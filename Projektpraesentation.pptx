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fachliche Beziehungen in Interaktionen übersetzen — Nutzende sollen nicht über Fremdschlüssel nachdenken.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zwei zentralen Einsichten: Item ≠ Content, und vertikal (Collection) ≠ horizontal (Variante).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ER-Diagramm einfügen. Kurz die drei Ebenen zeigen, nicht jede Tabelle vorlesen.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Adapter-Muster hervorheben: Demo läuft auch ohne Backend. Backend sauber geschichtet.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erklären wir Item+Content zusammen, weil sie fachlich untrennbar sind. Danach Demo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Wichtige Design-Entscheidung: Orthogonalität. Backend ist Autorität für die Positionen. Danach Demo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Tags allein auf einer Folie, weil das Feature groß ist. Danach Demo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Kleinere Entitäten sinnvoll gruppiert. Modifier ehrlich als 'vorbereitet, nicht ausgeführt'.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Zahlen ggf. an finalen Stand anpassen. Betonen: Backend-Tests brauchen keine laufende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Board-Screenshot und ein Discord-Meeting-Screenshot einfügen. Teamverkleinerung ehrlich ansprechen.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Botschaft: nicht erreichte Punkte sind transparent von den umgesetzten getrennt — vieles war eine EXTERNE Abhängigkeit.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Schluss: belastbare erste Iteration, ehrlich dokumentiert; Erweiterungen bauen auf vorhandenen Entitäten 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2B3A55"/>
                </a:solidFill>
              </a:rPr>
              <a:t>Aufgabendatenbank</a:t>
            </a:r>
          </a:p>
          <a:p>
            <a:r>
              <a:rPr sz="2400">
                <a:solidFill>
                  <a:srgbClr val="707070"/>
                </a:solidFill>
              </a:rPr>
              <a:t>Vom abstrakten Datenschema zum nutzbaren Autorenwerkzeug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A1A1A"/>
                </a:solidFill>
              </a:rPr>
              <a:t>Praktikum Wirtschaftsinformatik — Sommersemester 2026</a:t>
            </a:r>
          </a:p>
          <a:p>
            <a:r>
              <a:rPr sz="1700">
                <a:solidFill>
                  <a:srgbClr val="1A1A1A"/>
                </a:solidFill>
              </a:rPr>
              <a:t>Gruppe 2:  Joelle Giovanna Kamwa Mokam (Projektleitung) · Pharel · Danylo</a:t>
            </a:r>
          </a:p>
          <a:p>
            <a:r>
              <a:rPr sz="1700">
                <a:solidFill>
                  <a:srgbClr val="1A1A1A"/>
                </a:solidFill>
              </a:rPr>
              <a:t>Betreuung:  Prof. Dr. Markus Siepermann · Johannes Kunz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Ausgangsproblem &amp; Ziel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Joelle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Vorgegeben war nur ein abgestimmtes relationales Datenschema — keine nutzbare Anwendung.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Collections, Varianten und Inhalte waren nicht unmittelbar bedienbar.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Ziel: ein Autorenwerkzeug für Lehrende — Aufgaben beschreiben, strukturieren, kombinieren, wiederfinden.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Kein Lern- oder Korrektursystem.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Fachliches Kernmodell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Joelle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>
                <a:solidFill>
                  <a:srgbClr val="1A1A1A"/>
                </a:solidFill>
              </a:rPr>
              <a:t>•  Item — die Aufgabe (Autor, Lizenz, Typ, optionales Template).</a:t>
            </a:r>
          </a:p>
          <a:p>
            <a:pPr>
              <a:spcAft>
                <a:spcPts val="1000"/>
              </a:spcAft>
            </a:pPr>
            <a:r>
              <a:rPr sz="2500">
                <a:solidFill>
                  <a:srgbClr val="1A1A1A"/>
                </a:solidFill>
              </a:rPr>
              <a:t>•  ItemContent — Text/JSON oder Datei, verbunden über einen purpose (z. B. Aufgabenstellung).</a:t>
            </a:r>
          </a:p>
          <a:p>
            <a:pPr>
              <a:spcAft>
                <a:spcPts val="1000"/>
              </a:spcAft>
            </a:pPr>
            <a:r>
              <a:rPr sz="2500">
                <a:solidFill>
                  <a:srgbClr val="1A1A1A"/>
                </a:solidFill>
              </a:rPr>
              <a:t>•  Collection — geordnete Sequenz oder ungeordnete Sammlung.</a:t>
            </a:r>
          </a:p>
          <a:p>
            <a:pPr>
              <a:spcAft>
                <a:spcPts val="1000"/>
              </a:spcAft>
            </a:pPr>
            <a:r>
              <a:rPr sz="2500">
                <a:solidFill>
                  <a:srgbClr val="1A1A1A"/>
                </a:solidFill>
              </a:rPr>
              <a:t>•  Variante — horizontale Beziehung über root_item_id.</a:t>
            </a:r>
          </a:p>
          <a:p>
            <a:pPr lvl="1">
              <a:spcAft>
                <a:spcPts val="500"/>
              </a:spcAft>
            </a:pPr>
            <a:r>
              <a:rPr sz="2000">
                <a:solidFill>
                  <a:srgbClr val="707070"/>
                </a:solidFill>
              </a:rPr>
              <a:t>–  Kernaussage: Collection-Zugehörigkeit und Variantenbezug sind orthogonal.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Datenbankschema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Joelle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18 Tabellen in drei Ebenen: 8 Referenz · 3 Kern (item, item_content, item_collection) · 7 Join.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377440"/>
            <a:ext cx="9601200" cy="3931920"/>
          </a:xfrm>
          <a:prstGeom prst="rect">
            <a:avLst/>
          </a:prstGeom>
          <a:noFill/>
          <a:ln w="158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i="1">
                <a:solidFill>
                  <a:srgbClr val="707070"/>
                </a:solidFill>
              </a:rPr>
              <a:t>[ Datenbankschema / ER-Diagramm hier einfügen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Architektur &amp; Technologien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Danylo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Vue 3.5 + Pinia  →  ApiAdapter  →  Axios/REST  →  Spring Boot (Controller → Service → Repository)  →  PostgreSQL 16.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Java 21, TypeScript 6; JSONB für strukturierte Inhalte, BYTEA für Dateien.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API-Adapter entkoppelt den Store: echte API oder lokaler Dummy-Modus.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Docker Compose startet DB, Backend und Frontend gemeinsam.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Entitäten: Item &amp; ItemContent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Danylo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Item: JPA-Entity, Repository, CRUD-Service/-Controller; im Frontend ein Baumknoten mit Editor.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ItemContent: eigener Datensatz mit Autor/Lizenz/Typ, JSONB oder BYTEA (Bild/PDF).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purpose lebt auf der Verbindung item_contents — die Rolle des Inhalts in DER Aufgabe.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Kein großes Textfeld: eine Aufgabe besteht aus wiederverwendbaren Bausteinen.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Danylo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B3A55"/>
                </a:solidFill>
              </a:rPr>
              <a:t>▶  LIVE-DEMO 1: Aufgabe &amp; Inhalte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Aufgabe erstellen: Autor, Lizenz, Typ wählen.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Textinhalt + Bild/PDF hinzufügen.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Template-Vorschau zeigen.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297680"/>
            <a:ext cx="9601200" cy="2103120"/>
          </a:xfrm>
          <a:prstGeom prst="rect">
            <a:avLst/>
          </a:prstGeom>
          <a:noFill/>
          <a:ln w="158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i="1">
                <a:solidFill>
                  <a:srgbClr val="707070"/>
                </a:solidFill>
              </a:rPr>
              <a:t>[ Screenshot: Aufgabe erstellen + Inhalte/Vorschau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Entitäten: Collection &amp; Varianten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Pharel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Vertikal — Collection: item_collection (Träger-Item) + item_collection_sub_item mit position.</a:t>
            </a:r>
          </a:p>
          <a:p>
            <a:pPr lvl="1">
              <a:spcAft>
                <a:spcPts val="500"/>
              </a:spcAft>
            </a:pPr>
            <a:r>
              <a:rPr sz="1900">
                <a:solidFill>
                  <a:srgbClr val="707070"/>
                </a:solidFill>
              </a:rPr>
              <a:t>–  geordnet = Sequenz (Positionen), ungeordnet = Sammlung (position NULL).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Horizontal — Variante: eigenes Item mit root_item_id auf die Ausgangsaufgabe.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Beide getrennt: Verschieben in eine Collection ändert den Variantenbezug NICHT.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Löschen einer Collection löscht die enthaltenen Aufgaben nicht 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Pharel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B3A55"/>
                </a:solidFill>
              </a:rPr>
              <a:t>▶  LIVE-DEMO 2: Struktur &amp; Varianten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Aufgaben in eine geordnete Collection einfügen.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Per Drag-and-Drop umsortieren (Positionen kommen vom Backend).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Variante anlegen und im Variantenpanel zeigen.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297680"/>
            <a:ext cx="9601200" cy="2103120"/>
          </a:xfrm>
          <a:prstGeom prst="rect">
            <a:avLst/>
          </a:prstGeom>
          <a:noFill/>
          <a:ln w="158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i="1">
                <a:solidFill>
                  <a:srgbClr val="707070"/>
                </a:solidFill>
              </a:rPr>
              <a:t>[ Screenshot: geordnete Collection + Varianten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Entität: Tags (hierarchisch)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Danylo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Selbstreferenz parent_tag_id → echte Hierarchie statt flacher Schlagwortliste.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Backend liefert eine flache Liste; das Frontend baut daraus rekursiv einen Baum.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Zuweisung per Baum-Mehrfachauswahl, Anzeige als Pfad-Chips (z. B. DBS/SQL/Joins).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Kombinierte Filterleiste: Tag (mit Vererbung) + Text + Autor + Typ.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Danylo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B3A55"/>
                </a:solidFill>
              </a:rPr>
              <a:t>▶  LIVE-DEMO 3: Tags &amp; Suche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Tags einer Aufgabe zuweisen.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Über die kombinierte Filterleiste wiederfinden (Tag + Text + Autor/Typ).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297680"/>
            <a:ext cx="9601200" cy="2103120"/>
          </a:xfrm>
          <a:prstGeom prst="rect">
            <a:avLst/>
          </a:prstGeom>
          <a:noFill/>
          <a:ln w="158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i="1">
                <a:solidFill>
                  <a:srgbClr val="707070"/>
                </a:solidFill>
              </a:rPr>
              <a:t>[ Screenshot: Tag-Baum + kombinierte Suche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Weitere Entitäten: Referenzdaten, Validatoren,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Pharel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Referenzdaten (Autor, Lizenz, Item-/Content-Typ): auswählbar UND direkt neu anlegbar.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Validatoren: definieren, speichern, Aufgaben zuordnen — Ausführung bewusst extern.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Modifier: DB/Entity/Zuordnung vorbereitet, kein UI (auf Wunsch des Betreuers, da noch unklar).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A1A1A"/>
                </a:solidFill>
              </a:rPr>
              <a:t>•  Darstellungs-Templates: XML im CodeMirror-Editor + sortierbare purpose-Bausteine + Vorschau.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Qualität &amp; Robustheit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Pharel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107 Frontend-Tests und 92 Backend-Tests laufen erfolgreich.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TypeScript-Typcheck und Vite-Produktionsbuild grün.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Optimistische UI mit Resynchronisation nach partiellen API-Fehlern (keine Geister-Items).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CI: Push auf main → Backend-/Frontend-Image → GHCR (latest + Commit-SHA).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Projektorganisation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Joelle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GitHub Project-Board: Arbeitspakete in In progress / In review / Done.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Feature-/Fix-Branches, Pull-Requests mit Review, geschützter main-Branch.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Meetings 1–2× pro Woche · zwei Pair-Programming-Sitzungen.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Team im Verlauf von fünf auf drei Personen reduziert → Priorisierung, schichtübergreifend.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892040"/>
            <a:ext cx="9601200" cy="1371600"/>
          </a:xfrm>
          <a:prstGeom prst="rect">
            <a:avLst/>
          </a:prstGeom>
          <a:noFill/>
          <a:ln w="1587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i="1">
                <a:solidFill>
                  <a:srgbClr val="707070"/>
                </a:solidFill>
              </a:rPr>
              <a:t>[ Screenshots: GitHub Project-Board (In progress/In review/Done)  +  Discord-Meeting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Grenzen — ehrlich getrennt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Joelle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Extern bedingt (nicht von uns lösbar):</a:t>
            </a:r>
          </a:p>
          <a:p>
            <a:pPr lvl="1">
              <a:spcAft>
                <a:spcPts val="500"/>
              </a:spcAft>
            </a:pPr>
            <a:r>
              <a:rPr sz="1800">
                <a:solidFill>
                  <a:srgbClr val="707070"/>
                </a:solidFill>
              </a:rPr>
              <a:t>–  Deployment: CI→GHCR + values.yaml fertig, aber die Plattformgruppe stellte ihr Projekt ein → keine ArgoCD-Integration.</a:t>
            </a:r>
          </a:p>
          <a:p>
            <a:pPr lvl="1">
              <a:spcAft>
                <a:spcPts val="500"/>
              </a:spcAft>
            </a:pPr>
            <a:r>
              <a:rPr sz="1800">
                <a:solidFill>
                  <a:srgbClr val="707070"/>
                </a:solidFill>
              </a:rPr>
              <a:t>–  Authentifizierung: verbindliche Vorgaben/Identitätsdaten der Plattform fehlten → ohne Rechtekontrolle.</a:t>
            </a:r>
          </a:p>
          <a:p>
            <a:pPr>
              <a:spcAft>
                <a:spcPts val="1000"/>
              </a:spcAft>
            </a:pPr>
            <a:r>
              <a:rPr sz="2300">
                <a:solidFill>
                  <a:srgbClr val="1A1A1A"/>
                </a:solidFill>
              </a:rPr>
              <a:t>•  Fachlich zurückgestellt:</a:t>
            </a:r>
          </a:p>
          <a:p>
            <a:pPr lvl="1">
              <a:spcAft>
                <a:spcPts val="500"/>
              </a:spcAft>
            </a:pPr>
            <a:r>
              <a:rPr sz="1800">
                <a:solidFill>
                  <a:srgbClr val="707070"/>
                </a:solidFill>
              </a:rPr>
              <a:t>–  Modifier-UI und -Ausführung — auf Wunsch des Betreuers, da Anforderungen noch unklar.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B3A55"/>
                </a:solidFill>
              </a:rPr>
              <a:t>Ergebnis, Ausblick &amp; Fazit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254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25535" y="320040"/>
            <a:ext cx="3108960" cy="457200"/>
          </a:xfrm>
          <a:prstGeom prst="round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Vortrag:  Pharel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Ergebnis: abstraktes Schema als nutzbares Autorenwerkzeug — Kernabläufe integriert, getestet, containerisiert.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Mehr als CRUD: Trennung Item/Content, Collections vs. Varianten, konsistente Positionsverwaltung.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1A1A1A"/>
                </a:solidFill>
              </a:rPr>
              <a:t>•  Ausblick: Integrationstests (Testcontainers), zentrale Auth + Rollen, Modifier-Workflow, Store-Modularisierung, ArgoCD-Deployment.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381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2B3A55"/>
                </a:solidFill>
              </a:rPr>
              <a:t>Vielen Dank —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