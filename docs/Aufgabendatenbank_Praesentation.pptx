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Unser Ausgangspunkt war ein abgestimmtes Datenschema, aber noch kein nutzbares Produkt. Wir zeigen heute, wie wir daraus ein Autorenwerkzeug für Lehrende entwickelt haben.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Aufgabe war ausdrücklich mehr als CRUD. Wir mussten entscheiden, wie technische Beziehungen als verständliche Arbeitsabläufe erscheinen.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 Mittelpunkt stehen Lehrende. Die Anwendung verwaltet Aufgaben und ihre Beziehungen; Ausführung und automatische Korrektur liegen außerhalb unseres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 Item ist die zentrale Einheit. Inhalt wird getrennt gespeichert und über purpose verbunden. Collections organisieren verschiedene Aufgaben. root_item_id verwenden wir ausschließlich für Varianten.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 Store hängt nicht direkt von Axios ab, sondern vom ApiAdapter. Im Backend liegen HTTP-Vertrag, Geschäftsregeln und Persistenz in getrennten Schichten.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Item-ID muss zuerst existieren, bevor Content verknüpft werden kann. Mehrstufige Vorgänge aktualisieren die Oberfläche optimistisch. Bei einem Teilfehler synchronisieren wir gezielt mit dem Backend.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Reihenfolge gehört zur Mitgliedschaft, nicht zum Item. Deshalb berechnet das Backend die endgültigen Positionen. Ein Verschieben darf rootItemId niemals verändern.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Aufgabe ist kein großes Textfeld. Sie besteht aus mehreren Blöcken. Templates ordnen diese Blöcke, und hierarchische Tags plus kombinierte Filter machen sie wieder auffindbar.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Wir haben nicht nur Happy Paths getestet. Kritisch waren Positionslogik, Teilfehlerszenarien und die Trennung zwischen Collection und Variante.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GitHub war unser Arbeitsboard und nicht nur ein Codearchiv. Durch die Reduktion von fünf auf drei aktive Personen mussten wir neu priorisieren und schichtübergreifend arbeiten.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Wir trennen klar zwischen umgesetzt, vorbereitet und extern abhängig. Das produktive Deployment scheiterte nicht am Container-Build, sondern an der fehlenden Zielplattform.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Unser wichtigstes Ergebnis ist die Übersetzung der Beziehungen in nachvollziehbare Arbeitsabläufe. Darauf kann eine nächste Iteration mit Authentifizierung und externen Diensten aufbauen.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Demo beginnt mit laufendem System und vorbereiteten Daten. Wir zeigen einen zusammenhängenden Autorenworkflow und vermeiden redundante CRUD-Dialoge.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5720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35C58A"/>
                </a:solidFill>
                <a:latin typeface="Aptos"/>
              </a:defRPr>
            </a:pPr>
            <a:r>
              <a:t>PRAKTIKUM WIRTSCHAFTSINFORMATIK · SS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Aufgabendatenbank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08760"/>
            <a:ext cx="6766560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Aptos"/>
              </a:defRPr>
            </a:pPr>
            <a:r>
              <a:t>Vom abstrakten Datenschema zum nutzbaren Autorenwerkzeug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23160"/>
            <a:ext cx="45720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35C58A"/>
                </a:solidFill>
                <a:latin typeface="Aptos"/>
              </a:defRPr>
            </a:pPr>
            <a:r>
              <a:t>Vue · Spring Boot · PostgreSQL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600200"/>
            <a:ext cx="1554480" cy="603504"/>
          </a:xfrm>
          <a:prstGeom prst="roundRect">
            <a:avLst/>
          </a:prstGeom>
          <a:solidFill>
            <a:srgbClr val="142238"/>
          </a:solidFill>
          <a:ln w="12700">
            <a:solidFill>
              <a:srgbClr val="4F7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773936"/>
            <a:ext cx="155448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ITEM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38360" y="2514600"/>
            <a:ext cx="1554480" cy="603504"/>
          </a:xfrm>
          <a:prstGeom prst="roundRect">
            <a:avLst/>
          </a:prstGeom>
          <a:solidFill>
            <a:srgbClr val="142238"/>
          </a:solidFill>
          <a:ln w="12700">
            <a:solidFill>
              <a:srgbClr val="35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38360" y="2688336"/>
            <a:ext cx="155448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CONTENT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3749039"/>
            <a:ext cx="1554480" cy="603504"/>
          </a:xfrm>
          <a:prstGeom prst="roundRect">
            <a:avLst/>
          </a:prstGeom>
          <a:solidFill>
            <a:srgbClr val="142238"/>
          </a:solidFill>
          <a:ln w="12700"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3922776"/>
            <a:ext cx="155448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TAGS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6920" y="4617720"/>
            <a:ext cx="1554480" cy="603504"/>
          </a:xfrm>
          <a:prstGeom prst="roundRect">
            <a:avLst/>
          </a:prstGeom>
          <a:solidFill>
            <a:srgbClr val="142238"/>
          </a:solidFill>
          <a:ln w="12700">
            <a:solidFill>
              <a:srgbClr val="4F7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46920" y="4791456"/>
            <a:ext cx="155448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COLLECTION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349240"/>
            <a:ext cx="73152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Joelle Giovanna Kamwa Mokam · Pharel · Danylo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760720"/>
            <a:ext cx="73152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A9B5C7"/>
                </a:solidFill>
                <a:latin typeface="Aptos"/>
              </a:defRPr>
            </a:pPr>
            <a:r>
              <a:t>Betreuung: Prof. Dr. Markus Siepermann · Johannes Kunz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537960"/>
            <a:ext cx="5029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9EABC0"/>
                </a:solidFill>
                <a:latin typeface="Aptos"/>
              </a:defRPr>
            </a:pPr>
            <a:r>
              <a:t>PWI · Gruppe 2 · Aufgabendatenbank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9EABC0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5720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4F7DF3"/>
                </a:solidFill>
                <a:latin typeface="Aptos"/>
              </a:defRPr>
            </a:pPr>
            <a:r>
              <a:t>01 ·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0B1628"/>
                </a:solidFill>
                <a:latin typeface="Aptos"/>
              </a:defRPr>
            </a:pPr>
            <a:r>
              <a:t>Ausgangslage und Projektauftrag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6576"/>
          </a:xfrm>
          <a:prstGeom prst="rect">
            <a:avLst/>
          </a:prstGeom>
          <a:solidFill>
            <a:srgbClr val="35C58A"/>
          </a:solidFill>
          <a:ln w="12700">
            <a:solidFill>
              <a:srgbClr val="35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33756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819656"/>
            <a:ext cx="457200" cy="457200"/>
          </a:xfrm>
          <a:prstGeom prst="roundRect">
            <a:avLst/>
          </a:prstGeom>
          <a:solidFill>
            <a:srgbClr val="4F7DF3"/>
          </a:solidFill>
          <a:ln w="12700">
            <a:solidFill>
              <a:srgbClr val="4F7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56232"/>
            <a:ext cx="4572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1847088"/>
            <a:ext cx="2350007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0B1628"/>
                </a:solidFill>
                <a:latin typeface="Aptos"/>
              </a:defRPr>
            </a:pPr>
            <a:r>
              <a:t>Vorgegeben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2880360" cy="260603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607086"/>
                </a:solidFill>
                <a:latin typeface="Aptos"/>
              </a:defRPr>
            </a:pPr>
            <a:r>
              <a:t>Relationales Schema mit vielen Entitäten, Join-Tabellen und abstrakten Beziehungen.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600200"/>
            <a:ext cx="333756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36008" y="1819656"/>
            <a:ext cx="457200" cy="457200"/>
          </a:xfrm>
          <a:prstGeom prst="roundRect">
            <a:avLst/>
          </a:prstGeom>
          <a:solidFill>
            <a:srgbClr val="F5A524"/>
          </a:solidFill>
          <a:ln w="12700"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1856232"/>
            <a:ext cx="4572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847088"/>
            <a:ext cx="235000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0B1628"/>
                </a:solidFill>
                <a:latin typeface="Aptos"/>
              </a:defRPr>
            </a:pPr>
            <a:r>
              <a:t>Herausforderung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423160"/>
            <a:ext cx="2880360" cy="260603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607086"/>
                </a:solidFill>
                <a:latin typeface="Aptos"/>
              </a:defRPr>
            </a:pPr>
            <a:r>
              <a:t>Collections, Varianten und Inhaltsbausteine mussten fachlich verstanden und bedienbar werden.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4736" y="1600200"/>
            <a:ext cx="333756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03336" y="1819656"/>
            <a:ext cx="457200" cy="457200"/>
          </a:xfrm>
          <a:prstGeom prst="roundRect">
            <a:avLst/>
          </a:prstGeom>
          <a:solidFill>
            <a:srgbClr val="35C58A"/>
          </a:solidFill>
          <a:ln w="12700">
            <a:solidFill>
              <a:srgbClr val="35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856232"/>
            <a:ext cx="4572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79408" y="1847088"/>
            <a:ext cx="2350007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0B1628"/>
                </a:solidFill>
                <a:latin typeface="Aptos"/>
              </a:defRPr>
            </a:pPr>
            <a:r>
              <a:t>Unser Ergebnis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2423160"/>
            <a:ext cx="2880360" cy="260603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607086"/>
                </a:solidFill>
                <a:latin typeface="Aptos"/>
              </a:defRPr>
            </a:pPr>
            <a:r>
              <a:t>Durchgängige Webanwendung für Erstellung, Strukturierung, Kombination und Suche von Aufgaben.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20240" y="5532120"/>
            <a:ext cx="8321040" cy="502920"/>
          </a:xfrm>
          <a:prstGeom prst="round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20240" y="5669280"/>
            <a:ext cx="83210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Nicht nur speichern – Beziehungen verständlich nutzbar machen.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37960"/>
            <a:ext cx="5029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607086"/>
                </a:solidFill>
                <a:latin typeface="Aptos"/>
              </a:defRPr>
            </a:pPr>
            <a:r>
              <a:t>PWI · Gruppe 2 · Aufgabendatenbank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607086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5720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4F7DF3"/>
                </a:solidFill>
                <a:latin typeface="Aptos"/>
              </a:defRPr>
            </a:pPr>
            <a:r>
              <a:t>02 · ZIELBILD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0B1628"/>
                </a:solidFill>
                <a:latin typeface="Aptos"/>
              </a:defRPr>
            </a:pPr>
            <a:r>
              <a:t>Was das System leistet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6576"/>
          </a:xfrm>
          <a:prstGeom prst="rect">
            <a:avLst/>
          </a:prstGeom>
          <a:solidFill>
            <a:srgbClr val="35C58A"/>
          </a:solidFill>
          <a:ln w="12700">
            <a:solidFill>
              <a:srgbClr val="35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3375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874519"/>
            <a:ext cx="73152" cy="475488"/>
          </a:xfrm>
          <a:prstGeom prst="rect">
            <a:avLst/>
          </a:prstGeom>
          <a:solidFill>
            <a:srgbClr val="4F7DF3"/>
          </a:solidFill>
          <a:ln w="12700">
            <a:solidFill>
              <a:srgbClr val="4F7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847088"/>
            <a:ext cx="271576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0B1628"/>
                </a:solidFill>
                <a:latin typeface="Aptos"/>
              </a:defRPr>
            </a:pPr>
            <a:r>
              <a:t>Aufgaben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288036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607086"/>
                </a:solidFill>
                <a:latin typeface="Aptos"/>
              </a:defRPr>
            </a:pPr>
            <a:r>
              <a:t>Metadaten und mehrere Inhalte verwalten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600200"/>
            <a:ext cx="33375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36008" y="1874519"/>
            <a:ext cx="73152" cy="475488"/>
          </a:xfrm>
          <a:prstGeom prst="rect">
            <a:avLst/>
          </a:prstGeom>
          <a:solidFill>
            <a:srgbClr val="35C58A"/>
          </a:solidFill>
          <a:ln w="12700">
            <a:solidFill>
              <a:srgbClr val="35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847088"/>
            <a:ext cx="2715767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0B1628"/>
                </a:solidFill>
                <a:latin typeface="Aptos"/>
              </a:defRPr>
            </a:pPr>
            <a:r>
              <a:t>Collections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2423160"/>
            <a:ext cx="288036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607086"/>
                </a:solidFill>
                <a:latin typeface="Aptos"/>
              </a:defRPr>
            </a:pPr>
            <a:r>
              <a:t>Sammlungen und geordnete Sequenzen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74736" y="1600200"/>
            <a:ext cx="33375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03336" y="1874519"/>
            <a:ext cx="73152" cy="475488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13648" y="1847088"/>
            <a:ext cx="2715767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0B1628"/>
                </a:solidFill>
                <a:latin typeface="Aptos"/>
              </a:defRPr>
            </a:pPr>
            <a:r>
              <a:t>Varianten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3336" y="2423160"/>
            <a:ext cx="288036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607086"/>
                </a:solidFill>
                <a:latin typeface="Aptos"/>
              </a:defRPr>
            </a:pPr>
            <a:r>
              <a:t>Aufgabenfamilien horizontal abbilden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93592"/>
            <a:ext cx="33375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3867912"/>
            <a:ext cx="73152" cy="475488"/>
          </a:xfrm>
          <a:prstGeom prst="rect">
            <a:avLst/>
          </a:prstGeom>
          <a:solidFill>
            <a:srgbClr val="4F7DF3"/>
          </a:solidFill>
          <a:ln w="12700">
            <a:solidFill>
              <a:srgbClr val="4F7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3840480"/>
            <a:ext cx="271576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0B1628"/>
                </a:solidFill>
                <a:latin typeface="Aptos"/>
              </a:defRPr>
            </a:pPr>
            <a:r>
              <a:t>Metadaten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416552"/>
            <a:ext cx="288036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607086"/>
                </a:solidFill>
                <a:latin typeface="Aptos"/>
              </a:defRPr>
            </a:pPr>
            <a:r>
              <a:t>Autoren, Lizenzen, Typen und Tags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07408" y="3593592"/>
            <a:ext cx="33375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36008" y="3867912"/>
            <a:ext cx="73152" cy="475488"/>
          </a:xfrm>
          <a:prstGeom prst="rect">
            <a:avLst/>
          </a:prstGeom>
          <a:solidFill>
            <a:srgbClr val="35C58A"/>
          </a:solidFill>
          <a:ln w="12700">
            <a:solidFill>
              <a:srgbClr val="35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3840480"/>
            <a:ext cx="2715767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0B1628"/>
                </a:solidFill>
                <a:latin typeface="Aptos"/>
              </a:defRPr>
            </a:pPr>
            <a:r>
              <a:t>Darstellung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6008" y="4416552"/>
            <a:ext cx="288036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607086"/>
                </a:solidFill>
                <a:latin typeface="Aptos"/>
              </a:defRPr>
            </a:pPr>
            <a:r>
              <a:t>XML-Templates mit Vorschau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74736" y="3593592"/>
            <a:ext cx="33375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03336" y="3867912"/>
            <a:ext cx="73152" cy="475488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13648" y="3840480"/>
            <a:ext cx="2715767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0B1628"/>
                </a:solidFill>
                <a:latin typeface="Aptos"/>
              </a:defRPr>
            </a:pPr>
            <a:r>
              <a:t>Suche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03336" y="4416552"/>
            <a:ext cx="288036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607086"/>
                </a:solidFill>
                <a:latin typeface="Aptos"/>
              </a:defRPr>
            </a:pPr>
            <a:r>
              <a:t>Inhalt, Autor, Typ und Tags kombinieren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806440"/>
            <a:ext cx="62179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0B1628"/>
                </a:solidFill>
                <a:latin typeface="Aptos"/>
              </a:defRPr>
            </a:pPr>
            <a:r>
              <a:t>Zielgruppe: Lehrende und Autoren von Übungsaufgaben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806440"/>
            <a:ext cx="49834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1300" b="0">
                <a:solidFill>
                  <a:srgbClr val="607086"/>
                </a:solidFill>
                <a:latin typeface="Aptos"/>
              </a:defRPr>
            </a:pPr>
            <a:r>
              <a:t>Abgrenzung: kein Lern-, Abgabe- oder Korrektursystem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537960"/>
            <a:ext cx="5029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607086"/>
                </a:solidFill>
                <a:latin typeface="Aptos"/>
              </a:defRPr>
            </a:pPr>
            <a:r>
              <a:t>PWI · Gruppe 2 · Aufgabendatenbank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607086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5720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4F7DF3"/>
                </a:solidFill>
                <a:latin typeface="Aptos"/>
              </a:defRPr>
            </a:pPr>
            <a:r>
              <a:t>03 · DATENMODELL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0B1628"/>
                </a:solidFill>
                <a:latin typeface="Aptos"/>
              </a:defRPr>
            </a:pPr>
            <a:r>
              <a:t>Das fachliche Kernmodell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6576"/>
          </a:xfrm>
          <a:prstGeom prst="rect">
            <a:avLst/>
          </a:prstGeom>
          <a:solidFill>
            <a:srgbClr val="35C58A"/>
          </a:solidFill>
          <a:ln w="12700">
            <a:solidFill>
              <a:srgbClr val="35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61688" y="2377440"/>
            <a:ext cx="2743200" cy="1143000"/>
          </a:xfrm>
          <a:prstGeom prst="round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61688" y="2615184"/>
            <a:ext cx="274320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ITEM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61688" y="2999232"/>
            <a:ext cx="2743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00" b="0">
                <a:solidFill>
                  <a:srgbClr val="B9C5D6"/>
                </a:solidFill>
                <a:latin typeface="Aptos"/>
              </a:defRPr>
            </a:pPr>
            <a:r>
              <a:t>Metadaten der Aufgabe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32461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" y="1828800"/>
            <a:ext cx="73152" cy="475488"/>
          </a:xfrm>
          <a:prstGeom prst="rect">
            <a:avLst/>
          </a:prstGeom>
          <a:solidFill>
            <a:srgbClr val="4F7DF3"/>
          </a:solidFill>
          <a:ln w="12700">
            <a:solidFill>
              <a:srgbClr val="4F7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1801368"/>
            <a:ext cx="2624327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0B1628"/>
                </a:solidFill>
                <a:latin typeface="Aptos"/>
              </a:defRPr>
            </a:pPr>
            <a:r>
              <a:t>ITEM 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77440"/>
            <a:ext cx="2788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607086"/>
                </a:solidFill>
                <a:latin typeface="Aptos"/>
              </a:defRPr>
            </a:pPr>
            <a:r>
              <a:t>Text · JSON · Bild · PDF</a:t>
            </a:r>
            <a:br/>
            <a:r>
              <a:t>Rolle über purpose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02168" y="1554480"/>
            <a:ext cx="32461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30768" y="1828800"/>
            <a:ext cx="73152" cy="475488"/>
          </a:xfrm>
          <a:prstGeom prst="rect">
            <a:avLst/>
          </a:prstGeom>
          <a:solidFill>
            <a:srgbClr val="35C58A"/>
          </a:solidFill>
          <a:ln w="12700">
            <a:solidFill>
              <a:srgbClr val="35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1801368"/>
            <a:ext cx="2624327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0B1628"/>
                </a:solidFill>
                <a:latin typeface="Aptos"/>
              </a:defRPr>
            </a:pPr>
            <a:r>
              <a:t>COLLECTION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2377440"/>
            <a:ext cx="2788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607086"/>
                </a:solidFill>
                <a:latin typeface="Aptos"/>
              </a:defRPr>
            </a:pPr>
            <a:r>
              <a:t>Sammlung oder Sequenz</a:t>
            </a:r>
            <a:br/>
            <a:r>
              <a:t>Position in Join-Tabelle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60520"/>
            <a:ext cx="32461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0120" y="4434840"/>
            <a:ext cx="73152" cy="475488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4407408"/>
            <a:ext cx="2624327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0B1628"/>
                </a:solidFill>
                <a:latin typeface="Aptos"/>
              </a:defRPr>
            </a:pPr>
            <a:r>
              <a:t>TAGS &amp; VALIDATOREN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983480"/>
            <a:ext cx="2788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607086"/>
                </a:solidFill>
                <a:latin typeface="Aptos"/>
              </a:defRPr>
            </a:pPr>
            <a:r>
              <a:t>Hierarchie und Regeln</a:t>
            </a:r>
            <a:br/>
            <a:r>
              <a:t>wiederverwendbar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02168" y="4160520"/>
            <a:ext cx="32461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30768" y="4434840"/>
            <a:ext cx="73152" cy="475488"/>
          </a:xfrm>
          <a:prstGeom prst="rect">
            <a:avLst/>
          </a:prstGeom>
          <a:solidFill>
            <a:srgbClr val="4F7DF3"/>
          </a:solidFill>
          <a:ln w="12700">
            <a:solidFill>
              <a:srgbClr val="4F7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41080" y="4407408"/>
            <a:ext cx="2624327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0B1628"/>
                </a:solidFill>
                <a:latin typeface="Aptos"/>
              </a:defRPr>
            </a:pPr>
            <a:r>
              <a:t>VARIANTE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0768" y="4983480"/>
            <a:ext cx="2788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607086"/>
                </a:solidFill>
                <a:latin typeface="Aptos"/>
              </a:defRPr>
            </a:pPr>
            <a:r>
              <a:t>Self-Reference über</a:t>
            </a:r>
            <a:br/>
            <a:r>
              <a:t>root_item_id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977639" y="2286000"/>
            <a:ext cx="384049" cy="274320"/>
          </a:xfrm>
          <a:prstGeom prst="line">
            <a:avLst/>
          </a:prstGeom>
          <a:ln w="25400">
            <a:solidFill>
              <a:srgbClr val="A8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104888" y="2286000"/>
            <a:ext cx="1097280" cy="274320"/>
          </a:xfrm>
          <a:prstGeom prst="line">
            <a:avLst/>
          </a:prstGeom>
          <a:ln w="25400">
            <a:solidFill>
              <a:srgbClr val="A8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977639" y="3337560"/>
            <a:ext cx="384049" cy="1234440"/>
          </a:xfrm>
          <a:prstGeom prst="line">
            <a:avLst/>
          </a:prstGeom>
          <a:ln w="25400">
            <a:solidFill>
              <a:srgbClr val="A8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104888" y="3337560"/>
            <a:ext cx="1097280" cy="1234440"/>
          </a:xfrm>
          <a:prstGeom prst="line">
            <a:avLst/>
          </a:prstGeom>
          <a:ln w="25400">
            <a:solidFill>
              <a:srgbClr val="A8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880360" y="5806440"/>
            <a:ext cx="6446520" cy="438912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B9E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80360" y="5925312"/>
            <a:ext cx="64465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167A58"/>
                </a:solidFill>
                <a:latin typeface="Aptos"/>
              </a:defRPr>
            </a:pPr>
            <a:r>
              <a:t>Collection-Zugehörigkeit und Variantenbezug bleiben unabhängig.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37960"/>
            <a:ext cx="5029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607086"/>
                </a:solidFill>
                <a:latin typeface="Aptos"/>
              </a:defRPr>
            </a:pPr>
            <a:r>
              <a:t>PWI · Gruppe 2 · Aufgabendatenbank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607086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5720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4F7DF3"/>
                </a:solidFill>
                <a:latin typeface="Aptos"/>
              </a:defRPr>
            </a:pPr>
            <a:r>
              <a:t>04 · SYSTEMDESIGN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0B1628"/>
                </a:solidFill>
                <a:latin typeface="Aptos"/>
              </a:defRPr>
            </a:pPr>
            <a:r>
              <a:t>Architektur: klar getrennte Verantwortungen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6576"/>
          </a:xfrm>
          <a:prstGeom prst="rect">
            <a:avLst/>
          </a:prstGeom>
          <a:solidFill>
            <a:srgbClr val="35C58A"/>
          </a:solidFill>
          <a:ln w="12700">
            <a:solidFill>
              <a:srgbClr val="35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508760"/>
            <a:ext cx="69037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7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1682495"/>
            <a:ext cx="21031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0B1628"/>
                </a:solidFill>
                <a:latin typeface="Aptos"/>
              </a:defRPr>
            </a:pPr>
            <a:r>
              <a:t>Vue 3 + Vuetify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1691639"/>
            <a:ext cx="4160520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607086"/>
                </a:solidFill>
                <a:latin typeface="Aptos"/>
              </a:defRPr>
            </a:pPr>
            <a:r>
              <a:t>Komponenten, Editor, Baum, Filter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231136"/>
            <a:ext cx="45720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800" b="1">
                <a:solidFill>
                  <a:srgbClr val="35C58A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569463"/>
            <a:ext cx="69037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5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743199"/>
            <a:ext cx="21031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0B1628"/>
                </a:solidFill>
                <a:latin typeface="Aptos"/>
              </a:defRPr>
            </a:pPr>
            <a:r>
              <a:t>Pinia + ApiAdapter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752344"/>
            <a:ext cx="4160520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607086"/>
                </a:solidFill>
                <a:latin typeface="Aptos"/>
              </a:defRPr>
            </a:pPr>
            <a:r>
              <a:t>Zustand, DTO-Mapping, Dummy/HTTP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291839"/>
            <a:ext cx="45720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800" b="1">
                <a:solidFill>
                  <a:srgbClr val="35C58A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30168"/>
            <a:ext cx="69037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3803904"/>
            <a:ext cx="21031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0B1628"/>
                </a:solidFill>
                <a:latin typeface="Aptos"/>
              </a:defRPr>
            </a:pPr>
            <a:r>
              <a:t>Spring Boot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813048"/>
            <a:ext cx="4160520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607086"/>
                </a:solidFill>
                <a:latin typeface="Aptos"/>
              </a:defRPr>
            </a:pPr>
            <a:r>
              <a:t>Controller → Service → Repository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352544"/>
            <a:ext cx="45720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800" b="1">
                <a:solidFill>
                  <a:srgbClr val="35C58A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690871"/>
            <a:ext cx="6903720" cy="749808"/>
          </a:xfrm>
          <a:prstGeom prst="round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4864607"/>
            <a:ext cx="21031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PostgreSQL 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4873751"/>
            <a:ext cx="4160520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C6D1E0"/>
                </a:solidFill>
                <a:latin typeface="Aptos"/>
              </a:defRPr>
            </a:pPr>
            <a:r>
              <a:t>UUID · JSONB · BYTEA · Constraints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1508760"/>
            <a:ext cx="2971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03920" y="1783080"/>
            <a:ext cx="73152" cy="475488"/>
          </a:xfrm>
          <a:prstGeom prst="rect">
            <a:avLst/>
          </a:prstGeom>
          <a:solidFill>
            <a:srgbClr val="35C58A"/>
          </a:solidFill>
          <a:ln w="12700">
            <a:solidFill>
              <a:srgbClr val="35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14232" y="1755648"/>
            <a:ext cx="2350007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0B1628"/>
                </a:solidFill>
                <a:latin typeface="Aptos"/>
              </a:defRPr>
            </a:pPr>
            <a:r>
              <a:t>Warum diese Architektur?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331720"/>
            <a:ext cx="2514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607086"/>
                </a:solidFill>
                <a:latin typeface="Aptos"/>
              </a:defRPr>
            </a:pPr>
            <a:r>
              <a:t>Testbar, wartbar und für reale API sowie lokalen Dummy-Betrieb geeignet.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3017520"/>
            <a:ext cx="2971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03920" y="3291839"/>
            <a:ext cx="73152" cy="475488"/>
          </a:xfrm>
          <a:prstGeom prst="rect">
            <a:avLst/>
          </a:prstGeom>
          <a:solidFill>
            <a:srgbClr val="4F7DF3"/>
          </a:solidFill>
          <a:ln w="12700">
            <a:solidFill>
              <a:srgbClr val="4F7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14232" y="3264408"/>
            <a:ext cx="2350007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0B1628"/>
                </a:solidFill>
                <a:latin typeface="Aptos"/>
              </a:defRPr>
            </a:pPr>
            <a:r>
              <a:t>Warum PostgreSQL?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840480"/>
            <a:ext cx="2514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607086"/>
                </a:solidFill>
                <a:latin typeface="Aptos"/>
              </a:defRPr>
            </a:pPr>
            <a:r>
              <a:t>Das Schema nutzt JSONB, Binärdaten und UUIDs nativ.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20" y="4526280"/>
            <a:ext cx="2971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3920" y="4800600"/>
            <a:ext cx="73152" cy="475488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14232" y="4773168"/>
            <a:ext cx="2350007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0B1628"/>
                </a:solidFill>
                <a:latin typeface="Aptos"/>
              </a:defRPr>
            </a:pPr>
            <a:r>
              <a:t>Warum Spring Boot?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5349240"/>
            <a:ext cx="2514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607086"/>
                </a:solidFill>
                <a:latin typeface="Aptos"/>
              </a:defRPr>
            </a:pPr>
            <a:r>
              <a:t>Transaktionen, JPA und klare Schichten – plus vorhandene Erfahrung.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537960"/>
            <a:ext cx="5029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607086"/>
                </a:solidFill>
                <a:latin typeface="Aptos"/>
              </a:defRPr>
            </a:pPr>
            <a:r>
              <a:t>PWI · Gruppe 2 · Aufgabendatenbank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607086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5720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4F7DF3"/>
                </a:solidFill>
                <a:latin typeface="Aptos"/>
              </a:defRPr>
            </a:pPr>
            <a:r>
              <a:t>05 · BEISPIEL: AUFGABE ERSTELLEN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0B1628"/>
                </a:solidFill>
                <a:latin typeface="Aptos"/>
              </a:defRPr>
            </a:pPr>
            <a:r>
              <a:t>Ein Vorgang durch alle Schichten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6576"/>
          </a:xfrm>
          <a:prstGeom prst="rect">
            <a:avLst/>
          </a:prstGeom>
          <a:solidFill>
            <a:srgbClr val="35C58A"/>
          </a:solidFill>
          <a:ln w="12700">
            <a:solidFill>
              <a:srgbClr val="35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965960"/>
            <a:ext cx="1828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79576" y="1572768"/>
            <a:ext cx="658368" cy="658368"/>
          </a:xfrm>
          <a:prstGeom prst="roundRect">
            <a:avLst/>
          </a:prstGeom>
          <a:solidFill>
            <a:srgbClr val="35C58A"/>
          </a:solidFill>
          <a:ln w="12700">
            <a:solidFill>
              <a:srgbClr val="35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9576" y="1746504"/>
            <a:ext cx="658368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15544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600" b="1">
                <a:solidFill>
                  <a:srgbClr val="0B1628"/>
                </a:solidFill>
                <a:latin typeface="Aptos"/>
              </a:defRPr>
            </a:pPr>
            <a:r>
              <a:t>Dialog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98064"/>
            <a:ext cx="15544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0">
                <a:solidFill>
                  <a:srgbClr val="607086"/>
                </a:solidFill>
                <a:latin typeface="Aptos"/>
              </a:defRPr>
            </a:pPr>
            <a:r>
              <a:t>Eingaben prüfen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9736" y="2423160"/>
            <a:ext cx="411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2000" b="1">
                <a:solidFill>
                  <a:srgbClr val="4F7DF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98648" y="1965960"/>
            <a:ext cx="1828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83864" y="1572768"/>
            <a:ext cx="658368" cy="658368"/>
          </a:xfrm>
          <a:prstGeom prst="roundRect">
            <a:avLst/>
          </a:prstGeom>
          <a:solidFill>
            <a:srgbClr val="35C58A"/>
          </a:solidFill>
          <a:ln w="12700">
            <a:solidFill>
              <a:srgbClr val="35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3864" y="1746504"/>
            <a:ext cx="658368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2377440"/>
            <a:ext cx="15544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600" b="1">
                <a:solidFill>
                  <a:srgbClr val="0B1628"/>
                </a:solidFill>
                <a:latin typeface="Aptos"/>
              </a:defRPr>
            </a:pPr>
            <a:r>
              <a:t>POST /items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2798064"/>
            <a:ext cx="15544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0">
                <a:solidFill>
                  <a:srgbClr val="607086"/>
                </a:solidFill>
                <a:latin typeface="Aptos"/>
              </a:defRPr>
            </a:pPr>
            <a:r>
              <a:t>Item + UUID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4024" y="2423160"/>
            <a:ext cx="411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2000" b="1">
                <a:solidFill>
                  <a:srgbClr val="4F7DF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02936" y="1965960"/>
            <a:ext cx="1828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788152" y="1572768"/>
            <a:ext cx="658368" cy="658368"/>
          </a:xfrm>
          <a:prstGeom prst="roundRect">
            <a:avLst/>
          </a:prstGeom>
          <a:solidFill>
            <a:srgbClr val="35C58A"/>
          </a:solidFill>
          <a:ln w="12700">
            <a:solidFill>
              <a:srgbClr val="35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88152" y="1746504"/>
            <a:ext cx="658368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0096" y="2377440"/>
            <a:ext cx="15544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600" b="1">
                <a:solidFill>
                  <a:srgbClr val="0B1628"/>
                </a:solidFill>
                <a:latin typeface="Aptos"/>
              </a:defRPr>
            </a:pPr>
            <a:r>
              <a:t>POST /contents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0096" y="2798064"/>
            <a:ext cx="15544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0">
                <a:solidFill>
                  <a:srgbClr val="607086"/>
                </a:solidFill>
                <a:latin typeface="Aptos"/>
              </a:defRPr>
            </a:pPr>
            <a:r>
              <a:t>Inhalt speichern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68312" y="2423160"/>
            <a:ext cx="411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2000" b="1">
                <a:solidFill>
                  <a:srgbClr val="4F7DF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07224" y="1965960"/>
            <a:ext cx="1828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92440" y="1572768"/>
            <a:ext cx="658368" cy="658368"/>
          </a:xfrm>
          <a:prstGeom prst="roundRect">
            <a:avLst/>
          </a:prstGeom>
          <a:solidFill>
            <a:srgbClr val="35C58A"/>
          </a:solidFill>
          <a:ln w="12700">
            <a:solidFill>
              <a:srgbClr val="35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2440" y="1746504"/>
            <a:ext cx="658368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44384" y="2377440"/>
            <a:ext cx="15544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600" b="1">
                <a:solidFill>
                  <a:srgbClr val="0B1628"/>
                </a:solidFill>
                <a:latin typeface="Aptos"/>
              </a:defRPr>
            </a:pPr>
            <a:r>
              <a:t>item_contents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44384" y="2798064"/>
            <a:ext cx="15544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0">
                <a:solidFill>
                  <a:srgbClr val="607086"/>
                </a:solidFill>
                <a:latin typeface="Aptos"/>
              </a:defRPr>
            </a:pPr>
            <a:r>
              <a:t>purpose verbinden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2423160"/>
            <a:ext cx="411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2000" b="1">
                <a:solidFill>
                  <a:srgbClr val="4F7DF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11512" y="1965960"/>
            <a:ext cx="1828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396728" y="1572768"/>
            <a:ext cx="658368" cy="658368"/>
          </a:xfrm>
          <a:prstGeom prst="roundRect">
            <a:avLst/>
          </a:prstGeom>
          <a:solidFill>
            <a:srgbClr val="35C58A"/>
          </a:solidFill>
          <a:ln w="12700">
            <a:solidFill>
              <a:srgbClr val="35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96728" y="1746504"/>
            <a:ext cx="658368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48672" y="2377440"/>
            <a:ext cx="15544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600" b="1">
                <a:solidFill>
                  <a:srgbClr val="0B1628"/>
                </a:solidFill>
                <a:latin typeface="Aptos"/>
              </a:defRPr>
            </a:pPr>
            <a:r>
              <a:t>UI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48672" y="2798064"/>
            <a:ext cx="15544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0">
                <a:solidFill>
                  <a:srgbClr val="607086"/>
                </a:solidFill>
                <a:latin typeface="Aptos"/>
              </a:defRPr>
            </a:pPr>
            <a:r>
              <a:t>Baum aktualisieren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43000" y="4251960"/>
            <a:ext cx="9921240" cy="1143000"/>
          </a:xfrm>
          <a:prstGeom prst="roundRect">
            <a:avLst/>
          </a:prstGeom>
          <a:solidFill>
            <a:srgbClr val="FFF8E9"/>
          </a:solidFill>
          <a:ln w="12700">
            <a:solidFill>
              <a:srgbClr val="F1D6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17320" y="4535424"/>
            <a:ext cx="14173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9A6610"/>
                </a:solidFill>
                <a:latin typeface="Aptos"/>
              </a:defRPr>
            </a:pPr>
            <a:r>
              <a:t>Teilfehler?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80360" y="4535424"/>
            <a:ext cx="7726679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182230"/>
                </a:solidFill>
                <a:latin typeface="Aptos"/>
              </a:defRPr>
            </a:pPr>
            <a:r>
              <a:t>Das Frontend lädt den betroffenen Bereich erneut – keine dauerhaften Ghost-Items.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5010912"/>
            <a:ext cx="8961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607086"/>
                </a:solidFill>
                <a:latin typeface="Aptos"/>
              </a:defRPr>
            </a:pPr>
            <a:r>
              <a:t>Geschäftsregeln und Referenzprüfung liegen im Backend, nicht in der Oberfläche.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37960"/>
            <a:ext cx="5029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607086"/>
                </a:solidFill>
                <a:latin typeface="Aptos"/>
              </a:defRPr>
            </a:pPr>
            <a:r>
              <a:t>PWI · Gruppe 2 · Aufgabendatenbank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607086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5720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4F7DF3"/>
                </a:solidFill>
                <a:latin typeface="Aptos"/>
              </a:defRPr>
            </a:pPr>
            <a:r>
              <a:t>06 · FACHLICHE LOGIK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0B1628"/>
                </a:solidFill>
                <a:latin typeface="Aptos"/>
              </a:defRPr>
            </a:pPr>
            <a:r>
              <a:t>Strukturieren: Collections und Varianten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6576"/>
          </a:xfrm>
          <a:prstGeom prst="rect">
            <a:avLst/>
          </a:prstGeom>
          <a:solidFill>
            <a:srgbClr val="35C58A"/>
          </a:solidFill>
          <a:ln w="12700">
            <a:solidFill>
              <a:srgbClr val="35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72768"/>
            <a:ext cx="34747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847088"/>
            <a:ext cx="73152" cy="475488"/>
          </a:xfrm>
          <a:prstGeom prst="rect">
            <a:avLst/>
          </a:prstGeom>
          <a:solidFill>
            <a:srgbClr val="35C58A"/>
          </a:solidFill>
          <a:ln w="12700">
            <a:solidFill>
              <a:srgbClr val="35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819656"/>
            <a:ext cx="2852927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0B1628"/>
                </a:solidFill>
                <a:latin typeface="Aptos"/>
              </a:defRPr>
            </a:pPr>
            <a:r>
              <a:t>Ungeordnete Collection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95728"/>
            <a:ext cx="3017520" cy="2514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607086"/>
                </a:solidFill>
                <a:latin typeface="Aptos"/>
              </a:defRPr>
            </a:pPr>
            <a:r>
              <a:t>Thematische Gruppierung</a:t>
            </a:r>
            <a:br/>
            <a:br/>
            <a:r>
              <a:t>position = NULL</a:t>
            </a:r>
            <a:br/>
            <a:br/>
            <a:r>
              <a:t>Reihenfolge ohne Bedeutung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572768"/>
            <a:ext cx="34747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90288" y="1847088"/>
            <a:ext cx="73152" cy="475488"/>
          </a:xfrm>
          <a:prstGeom prst="rect">
            <a:avLst/>
          </a:prstGeom>
          <a:solidFill>
            <a:srgbClr val="4F7DF3"/>
          </a:solidFill>
          <a:ln w="12700">
            <a:solidFill>
              <a:srgbClr val="4F7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819656"/>
            <a:ext cx="2852927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0B1628"/>
                </a:solidFill>
                <a:latin typeface="Aptos"/>
              </a:defRPr>
            </a:pPr>
            <a:r>
              <a:t>Geordnete Collection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395728"/>
            <a:ext cx="3017520" cy="2514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607086"/>
                </a:solidFill>
                <a:latin typeface="Aptos"/>
              </a:defRPr>
            </a:pPr>
            <a:r>
              <a:t>Lernsequenz</a:t>
            </a:r>
            <a:br/>
            <a:br/>
            <a:r>
              <a:t>position = 1, 2, 3 …</a:t>
            </a:r>
            <a:br/>
            <a:br/>
            <a:r>
              <a:t>Backend normalisiert Positionen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572768"/>
            <a:ext cx="34747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11896" y="1847088"/>
            <a:ext cx="73152" cy="475488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22208" y="1819656"/>
            <a:ext cx="2852927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0B1628"/>
                </a:solidFill>
                <a:latin typeface="Aptos"/>
              </a:defRPr>
            </a:pPr>
            <a:r>
              <a:t>Horizontale Variante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2395728"/>
            <a:ext cx="3017520" cy="2514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607086"/>
                </a:solidFill>
                <a:latin typeface="Aptos"/>
              </a:defRPr>
            </a:pPr>
            <a:r>
              <a:t>Gleiche Aufgabenfamilie</a:t>
            </a:r>
            <a:br/>
            <a:br/>
            <a:r>
              <a:t>root_item_id</a:t>
            </a:r>
            <a:br/>
            <a:br/>
            <a:r>
              <a:t>Unabhängig von Collections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17320" y="5486400"/>
            <a:ext cx="9326880" cy="512064"/>
          </a:xfrm>
          <a:prstGeom prst="round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5632704"/>
            <a:ext cx="93268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Drag-and-Drop  →  Service-Operation  →  konsistente Geschwisterpositionen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37960"/>
            <a:ext cx="5029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607086"/>
                </a:solidFill>
                <a:latin typeface="Aptos"/>
              </a:defRPr>
            </a:pPr>
            <a:r>
              <a:t>PWI · Gruppe 2 · Aufgabendatenbank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607086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5720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4F7DF3"/>
                </a:solidFill>
                <a:latin typeface="Aptos"/>
              </a:defRPr>
            </a:pPr>
            <a:r>
              <a:t>07 · AUTORENWORKFLOW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0B1628"/>
                </a:solidFill>
                <a:latin typeface="Aptos"/>
              </a:defRPr>
            </a:pPr>
            <a:r>
              <a:t>Inhalte, Metadaten und Wiederfinden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6576"/>
          </a:xfrm>
          <a:prstGeom prst="rect">
            <a:avLst/>
          </a:prstGeom>
          <a:solidFill>
            <a:srgbClr val="35C58A"/>
          </a:solidFill>
          <a:ln w="12700">
            <a:solidFill>
              <a:srgbClr val="35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33756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337560" cy="685800"/>
          </a:xfrm>
          <a:prstGeom prst="roundRect">
            <a:avLst/>
          </a:prstGeom>
          <a:solidFill>
            <a:srgbClr val="4F7DF3"/>
          </a:solidFill>
          <a:ln w="12700">
            <a:solidFill>
              <a:srgbClr val="4F7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10512"/>
            <a:ext cx="28803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INHALTE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651760"/>
            <a:ext cx="2697480" cy="2011680"/>
          </a:xfrm>
          <a:prstGeom prst="rect">
            <a:avLst/>
          </a:prstGeom>
          <a:noFill/>
        </p:spPr>
        <p:txBody>
          <a:bodyPr wrap="none" lIns="73152" rIns="2743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82230"/>
                </a:solidFill>
                <a:latin typeface="Aptos"/>
              </a:defRPr>
            </a:pPr>
            <a:r>
              <a:rPr>
                <a:solidFill>
                  <a:srgbClr val="4F7DF3"/>
                </a:solidFill>
              </a:rPr>
              <a:t>●  mehrere Blöcke</a:t>
            </a:r>
          </a:p>
          <a:p>
            <a:pPr>
              <a:spcAft>
                <a:spcPts val="1000"/>
              </a:spcAft>
              <a:defRPr sz="1600">
                <a:solidFill>
                  <a:srgbClr val="182230"/>
                </a:solidFill>
                <a:latin typeface="Aptos"/>
              </a:defRPr>
            </a:pPr>
            <a:r>
              <a:rPr>
                <a:solidFill>
                  <a:srgbClr val="4F7DF3"/>
                </a:solidFill>
              </a:rPr>
              <a:t>●  Text, Bild, PDF</a:t>
            </a:r>
          </a:p>
          <a:p>
            <a:pPr>
              <a:spcAft>
                <a:spcPts val="1000"/>
              </a:spcAft>
              <a:defRPr sz="1600">
                <a:solidFill>
                  <a:srgbClr val="182230"/>
                </a:solidFill>
                <a:latin typeface="Aptos"/>
              </a:defRPr>
            </a:pPr>
            <a:r>
              <a:rPr>
                <a:solidFill>
                  <a:srgbClr val="4F7DF3"/>
                </a:solidFill>
              </a:rPr>
              <a:t>●  eigener 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5074920"/>
            <a:ext cx="26974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4F7DF3"/>
                </a:solidFill>
                <a:latin typeface="Aptos"/>
              </a:defRPr>
            </a:pPr>
            <a:r>
              <a:t>JSONB / BYTEA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600200"/>
            <a:ext cx="333756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07408" y="1600200"/>
            <a:ext cx="3337560" cy="685800"/>
          </a:xfrm>
          <a:prstGeom prst="roundRect">
            <a:avLst/>
          </a:prstGeom>
          <a:solidFill>
            <a:srgbClr val="35C58A"/>
          </a:solidFill>
          <a:ln w="12700">
            <a:solidFill>
              <a:srgbClr val="35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1810512"/>
            <a:ext cx="28803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DARSTELLUNG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651760"/>
            <a:ext cx="2697480" cy="2011680"/>
          </a:xfrm>
          <a:prstGeom prst="rect">
            <a:avLst/>
          </a:prstGeom>
          <a:noFill/>
        </p:spPr>
        <p:txBody>
          <a:bodyPr wrap="none" lIns="73152" rIns="2743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82230"/>
                </a:solidFill>
                <a:latin typeface="Aptos"/>
              </a:defRPr>
            </a:pPr>
            <a:r>
              <a:rPr>
                <a:solidFill>
                  <a:srgbClr val="35C58A"/>
                </a:solidFill>
              </a:rPr>
              <a:t>●  XML-Template</a:t>
            </a:r>
          </a:p>
          <a:p>
            <a:pPr>
              <a:spcAft>
                <a:spcPts val="1000"/>
              </a:spcAft>
              <a:defRPr sz="1600">
                <a:solidFill>
                  <a:srgbClr val="182230"/>
                </a:solidFill>
                <a:latin typeface="Aptos"/>
              </a:defRPr>
            </a:pPr>
            <a:r>
              <a:rPr>
                <a:solidFill>
                  <a:srgbClr val="35C58A"/>
                </a:solidFill>
              </a:rPr>
              <a:t>●  Purpose-Reihenfolge</a:t>
            </a:r>
          </a:p>
          <a:p>
            <a:pPr>
              <a:spcAft>
                <a:spcPts val="1000"/>
              </a:spcAft>
              <a:defRPr sz="1600">
                <a:solidFill>
                  <a:srgbClr val="182230"/>
                </a:solidFill>
                <a:latin typeface="Aptos"/>
              </a:defRPr>
            </a:pPr>
            <a:r>
              <a:rPr>
                <a:solidFill>
                  <a:srgbClr val="35C58A"/>
                </a:solidFill>
              </a:rPr>
              <a:t>●  Live-Vorschau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5074920"/>
            <a:ext cx="26974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35C58A"/>
                </a:solidFill>
                <a:latin typeface="Aptos"/>
              </a:defRPr>
            </a:pPr>
            <a:r>
              <a:t>CodeMirror 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4736" y="1600200"/>
            <a:ext cx="333756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74736" y="1600200"/>
            <a:ext cx="3337560" cy="685800"/>
          </a:xfrm>
          <a:prstGeom prst="roundRect">
            <a:avLst/>
          </a:prstGeom>
          <a:solidFill>
            <a:srgbClr val="F5A524"/>
          </a:solidFill>
          <a:ln w="12700"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810512"/>
            <a:ext cx="28803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TAGS &amp; SUCHE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94776" y="2651760"/>
            <a:ext cx="2697480" cy="2011680"/>
          </a:xfrm>
          <a:prstGeom prst="rect">
            <a:avLst/>
          </a:prstGeom>
          <a:noFill/>
        </p:spPr>
        <p:txBody>
          <a:bodyPr wrap="none" lIns="73152" rIns="2743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82230"/>
                </a:solidFill>
                <a:latin typeface="Aptos"/>
              </a:defRPr>
            </a:pPr>
            <a:r>
              <a:rPr>
                <a:solidFill>
                  <a:srgbClr val="F5A524"/>
                </a:solidFill>
              </a:rPr>
              <a:t>●  hierarchischer Baum</a:t>
            </a:r>
          </a:p>
          <a:p>
            <a:pPr>
              <a:spcAft>
                <a:spcPts val="1000"/>
              </a:spcAft>
              <a:defRPr sz="1600">
                <a:solidFill>
                  <a:srgbClr val="182230"/>
                </a:solidFill>
                <a:latin typeface="Aptos"/>
              </a:defRPr>
            </a:pPr>
            <a:r>
              <a:rPr>
                <a:solidFill>
                  <a:srgbClr val="F5A524"/>
                </a:solidFill>
              </a:rPr>
              <a:t>●  Autor und Typ</a:t>
            </a:r>
          </a:p>
          <a:p>
            <a:pPr>
              <a:spcAft>
                <a:spcPts val="1000"/>
              </a:spcAft>
              <a:defRPr sz="1600">
                <a:solidFill>
                  <a:srgbClr val="182230"/>
                </a:solidFill>
                <a:latin typeface="Aptos"/>
              </a:defRPr>
            </a:pPr>
            <a:r>
              <a:rPr>
                <a:solidFill>
                  <a:srgbClr val="F5A524"/>
                </a:solidFill>
              </a:rPr>
              <a:t>●  kombinierte Filter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94776" y="5074920"/>
            <a:ext cx="26974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5A524"/>
                </a:solidFill>
                <a:latin typeface="Aptos"/>
              </a:defRPr>
            </a:pPr>
            <a:r>
              <a:t>JPA Specifications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989320"/>
            <a:ext cx="99669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0B1628"/>
                </a:solidFill>
                <a:latin typeface="Aptos"/>
              </a:defRPr>
            </a:pPr>
            <a:r>
              <a:t>Speichern allein genügt nicht: Aufgaben müssen verständlich dargestellt und wiedergefunden werden.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37960"/>
            <a:ext cx="5029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607086"/>
                </a:solidFill>
                <a:latin typeface="Aptos"/>
              </a:defRPr>
            </a:pPr>
            <a:r>
              <a:t>PWI · Gruppe 2 · Aufgabendatenbank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607086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5720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4F7DF3"/>
                </a:solidFill>
                <a:latin typeface="Aptos"/>
              </a:defRPr>
            </a:pPr>
            <a:r>
              <a:t>08 · ABSICHERUNG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0B1628"/>
                </a:solidFill>
                <a:latin typeface="Aptos"/>
              </a:defRPr>
            </a:pPr>
            <a:r>
              <a:t>Qualität und Robustheit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6576"/>
          </a:xfrm>
          <a:prstGeom prst="rect">
            <a:avLst/>
          </a:prstGeom>
          <a:solidFill>
            <a:srgbClr val="35C58A"/>
          </a:solidFill>
          <a:ln w="12700">
            <a:solidFill>
              <a:srgbClr val="35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72768"/>
            <a:ext cx="23317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7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10512"/>
            <a:ext cx="23317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3000" b="1">
                <a:solidFill>
                  <a:srgbClr val="4F7DF3"/>
                </a:solidFill>
                <a:latin typeface="Aptos"/>
              </a:defRPr>
            </a:pPr>
            <a:r>
              <a:t>107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2057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607086"/>
                </a:solidFill>
                <a:latin typeface="Aptos"/>
              </a:defRPr>
            </a:pPr>
            <a:r>
              <a:t>Frontend-Tests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572768"/>
            <a:ext cx="23317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5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810512"/>
            <a:ext cx="23317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3000" b="1">
                <a:solidFill>
                  <a:srgbClr val="35C58A"/>
                </a:solidFill>
                <a:latin typeface="Aptos"/>
              </a:defRPr>
            </a:pPr>
            <a:r>
              <a:t>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514600"/>
            <a:ext cx="2057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607086"/>
                </a:solidFill>
                <a:latin typeface="Aptos"/>
              </a:defRPr>
            </a:pPr>
            <a:r>
              <a:t>Backend-Tests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572768"/>
            <a:ext cx="23317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810512"/>
            <a:ext cx="23317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3000" b="1">
                <a:solidFill>
                  <a:srgbClr val="F5A524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514600"/>
            <a:ext cx="2057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607086"/>
                </a:solidFill>
                <a:latin typeface="Aptos"/>
              </a:defRPr>
            </a:pPr>
            <a:r>
              <a:t>Typecheck &amp; Build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1572768"/>
            <a:ext cx="23317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1810512"/>
            <a:ext cx="23317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3000" b="1">
                <a:solidFill>
                  <a:srgbClr val="0B1628"/>
                </a:solidFill>
                <a:latin typeface="Aptos"/>
              </a:defRPr>
            </a:pPr>
            <a:r>
              <a:t>SHA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2514600"/>
            <a:ext cx="2057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607086"/>
                </a:solidFill>
                <a:latin typeface="Aptos"/>
              </a:defRPr>
            </a:pPr>
            <a:r>
              <a:t>reproduzierbare Images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11880"/>
            <a:ext cx="3246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0120" y="3886200"/>
            <a:ext cx="73152" cy="475488"/>
          </a:xfrm>
          <a:prstGeom prst="rect">
            <a:avLst/>
          </a:prstGeom>
          <a:solidFill>
            <a:srgbClr val="4F7DF3"/>
          </a:solidFill>
          <a:ln w="12700">
            <a:solidFill>
              <a:srgbClr val="4F7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0432" y="3858768"/>
            <a:ext cx="2624327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0B1628"/>
                </a:solidFill>
                <a:latin typeface="Aptos"/>
              </a:defRPr>
            </a:pPr>
            <a:r>
              <a:t>Geschäftslogik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434840"/>
            <a:ext cx="2788920" cy="54863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607086"/>
                </a:solidFill>
                <a:latin typeface="Aptos"/>
              </a:defRPr>
            </a:pPr>
            <a:r>
              <a:t>Collections, Positionen, Varianten und Referenzen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62272" y="3611880"/>
            <a:ext cx="3246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90872" y="3886200"/>
            <a:ext cx="73152" cy="475488"/>
          </a:xfrm>
          <a:prstGeom prst="rect">
            <a:avLst/>
          </a:prstGeom>
          <a:solidFill>
            <a:srgbClr val="35C58A"/>
          </a:solidFill>
          <a:ln w="12700">
            <a:solidFill>
              <a:srgbClr val="35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01183" y="3858768"/>
            <a:ext cx="262432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0B1628"/>
                </a:solidFill>
                <a:latin typeface="Aptos"/>
              </a:defRPr>
            </a:pPr>
            <a:r>
              <a:t>Fehlerpfade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0872" y="4434840"/>
            <a:ext cx="2788920" cy="54863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607086"/>
                </a:solidFill>
                <a:latin typeface="Aptos"/>
              </a:defRPr>
            </a:pPr>
            <a:r>
              <a:t>Resynchronisation nach partiellen API-Fehlern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93024" y="3611880"/>
            <a:ext cx="3246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21624" y="3886200"/>
            <a:ext cx="73152" cy="475488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31936" y="3858768"/>
            <a:ext cx="2624327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0B1628"/>
                </a:solidFill>
                <a:latin typeface="Aptos"/>
              </a:defRPr>
            </a:pPr>
            <a:r>
              <a:t>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21624" y="4434840"/>
            <a:ext cx="2788920" cy="54863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607086"/>
                </a:solidFill>
                <a:latin typeface="Aptos"/>
              </a:defRPr>
            </a:pPr>
            <a:r>
              <a:t>Feature-Branches, Pull Requests und Reviews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715000"/>
            <a:ext cx="97840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0B1628"/>
                </a:solidFill>
                <a:latin typeface="Aptos"/>
              </a:defRPr>
            </a:pPr>
            <a:r>
              <a:t>CI erstellt nach Merge in main Backend- und Frontend-Images in GHCR.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37960"/>
            <a:ext cx="5029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607086"/>
                </a:solidFill>
                <a:latin typeface="Aptos"/>
              </a:defRPr>
            </a:pPr>
            <a:r>
              <a:t>PWI · Gruppe 2 · Aufgabendatenbank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607086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5720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4F7DF3"/>
                </a:solidFill>
                <a:latin typeface="Aptos"/>
              </a:defRPr>
            </a:pPr>
            <a:r>
              <a:t>09 · ZUSAMMENARBEIT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0B1628"/>
                </a:solidFill>
                <a:latin typeface="Aptos"/>
              </a:defRPr>
            </a:pPr>
            <a:r>
              <a:t>Projektorganisation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6576"/>
          </a:xfrm>
          <a:prstGeom prst="rect">
            <a:avLst/>
          </a:prstGeom>
          <a:solidFill>
            <a:srgbClr val="35C58A"/>
          </a:solidFill>
          <a:ln w="12700">
            <a:solidFill>
              <a:srgbClr val="35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64208"/>
            <a:ext cx="1828800" cy="73152"/>
          </a:xfrm>
          <a:prstGeom prst="rect">
            <a:avLst/>
          </a:prstGeom>
          <a:solidFill>
            <a:srgbClr val="35C58A"/>
          </a:solidFill>
          <a:ln w="12700">
            <a:solidFill>
              <a:srgbClr val="35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81328"/>
            <a:ext cx="438912" cy="438912"/>
          </a:xfrm>
          <a:prstGeom prst="round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91056"/>
            <a:ext cx="438912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93392"/>
            <a:ext cx="18288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4F7DF3"/>
                </a:solidFill>
                <a:latin typeface="Aptos"/>
              </a:defRPr>
            </a:pPr>
            <a:r>
              <a:t>APR/MAI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04288"/>
            <a:ext cx="18288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0B1628"/>
                </a:solidFill>
                <a:latin typeface="Aptos"/>
              </a:defRPr>
            </a:pPr>
            <a:r>
              <a:t>Analyse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90088" y="1664208"/>
            <a:ext cx="1828800" cy="73152"/>
          </a:xfrm>
          <a:prstGeom prst="rect">
            <a:avLst/>
          </a:prstGeom>
          <a:solidFill>
            <a:srgbClr val="35C58A"/>
          </a:solidFill>
          <a:ln w="12700">
            <a:solidFill>
              <a:srgbClr val="35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90088" y="1481328"/>
            <a:ext cx="438912" cy="438912"/>
          </a:xfrm>
          <a:prstGeom prst="round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0088" y="1591056"/>
            <a:ext cx="438912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0088" y="1993392"/>
            <a:ext cx="18288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4F7DF3"/>
                </a:solidFill>
                <a:latin typeface="Aptos"/>
              </a:defRPr>
            </a:pPr>
            <a:r>
              <a:t>MAI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0088" y="2304288"/>
            <a:ext cx="18288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0B1628"/>
                </a:solidFill>
                <a:latin typeface="Aptos"/>
              </a:defRPr>
            </a:pPr>
            <a:r>
              <a:t>Grundaufbau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48656" y="1664208"/>
            <a:ext cx="1828800" cy="73152"/>
          </a:xfrm>
          <a:prstGeom prst="rect">
            <a:avLst/>
          </a:prstGeom>
          <a:solidFill>
            <a:srgbClr val="35C58A"/>
          </a:solidFill>
          <a:ln w="12700">
            <a:solidFill>
              <a:srgbClr val="35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248656" y="1481328"/>
            <a:ext cx="438912" cy="438912"/>
          </a:xfrm>
          <a:prstGeom prst="round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48656" y="1591056"/>
            <a:ext cx="438912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48656" y="1993392"/>
            <a:ext cx="18288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4F7DF3"/>
                </a:solidFill>
                <a:latin typeface="Aptos"/>
              </a:defRPr>
            </a:pPr>
            <a:r>
              <a:t>JUNI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8656" y="2304288"/>
            <a:ext cx="18288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0B1628"/>
                </a:solidFill>
                <a:latin typeface="Aptos"/>
              </a:defRPr>
            </a:pPr>
            <a:r>
              <a:t>Kernfunktionen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07224" y="1664208"/>
            <a:ext cx="1828800" cy="73152"/>
          </a:xfrm>
          <a:prstGeom prst="rect">
            <a:avLst/>
          </a:prstGeom>
          <a:solidFill>
            <a:srgbClr val="35C58A"/>
          </a:solidFill>
          <a:ln w="12700">
            <a:solidFill>
              <a:srgbClr val="35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07224" y="1481328"/>
            <a:ext cx="438912" cy="438912"/>
          </a:xfrm>
          <a:prstGeom prst="round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07224" y="1591056"/>
            <a:ext cx="438912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07224" y="1993392"/>
            <a:ext cx="18288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4F7DF3"/>
                </a:solidFill>
                <a:latin typeface="Aptos"/>
              </a:defRPr>
            </a:pPr>
            <a:r>
              <a:t>JUN/JUL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07224" y="2304288"/>
            <a:ext cx="18288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0B1628"/>
                </a:solidFill>
                <a:latin typeface="Aptos"/>
              </a:defRPr>
            </a:pPr>
            <a:r>
              <a:t>Erweiterungen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65792" y="1664208"/>
            <a:ext cx="1828800" cy="73152"/>
          </a:xfrm>
          <a:prstGeom prst="rect">
            <a:avLst/>
          </a:prstGeom>
          <a:solidFill>
            <a:srgbClr val="35C58A"/>
          </a:solidFill>
          <a:ln w="12700">
            <a:solidFill>
              <a:srgbClr val="35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765792" y="1481328"/>
            <a:ext cx="438912" cy="438912"/>
          </a:xfrm>
          <a:prstGeom prst="round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65792" y="1591056"/>
            <a:ext cx="438912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1993392"/>
            <a:ext cx="18288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4F7DF3"/>
                </a:solidFill>
                <a:latin typeface="Aptos"/>
              </a:defRPr>
            </a:pPr>
            <a:r>
              <a:t>JULI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2304288"/>
            <a:ext cx="18288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0B1628"/>
                </a:solidFill>
                <a:latin typeface="Aptos"/>
              </a:defRPr>
            </a:pPr>
            <a:r>
              <a:t>Stabilisierung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3154680"/>
            <a:ext cx="32461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0120" y="3429000"/>
            <a:ext cx="73152" cy="475488"/>
          </a:xfrm>
          <a:prstGeom prst="rect">
            <a:avLst/>
          </a:prstGeom>
          <a:solidFill>
            <a:srgbClr val="4F7DF3"/>
          </a:solidFill>
          <a:ln w="12700">
            <a:solidFill>
              <a:srgbClr val="4F7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70432" y="3401568"/>
            <a:ext cx="2624327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0B1628"/>
                </a:solidFill>
                <a:latin typeface="Aptos"/>
              </a:defRPr>
            </a:pPr>
            <a:r>
              <a:t>GitHub Project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977640"/>
            <a:ext cx="2788920" cy="91439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607086"/>
                </a:solidFill>
                <a:latin typeface="Aptos"/>
              </a:defRPr>
            </a:pPr>
            <a:r>
              <a:t>Arbeitspakete über In progress, In review und Closed/Done nachverfolgt.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62272" y="3154680"/>
            <a:ext cx="32461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690872" y="3429000"/>
            <a:ext cx="73152" cy="475488"/>
          </a:xfrm>
          <a:prstGeom prst="rect">
            <a:avLst/>
          </a:prstGeom>
          <a:solidFill>
            <a:srgbClr val="35C58A"/>
          </a:solidFill>
          <a:ln w="12700">
            <a:solidFill>
              <a:srgbClr val="35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01183" y="3401568"/>
            <a:ext cx="262432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0B1628"/>
                </a:solidFill>
                <a:latin typeface="Aptos"/>
              </a:defRPr>
            </a:pPr>
            <a:r>
              <a:t>Kommunikation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90872" y="3977640"/>
            <a:ext cx="2788920" cy="91439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607086"/>
                </a:solidFill>
                <a:latin typeface="Aptos"/>
              </a:defRPr>
            </a:pPr>
            <a:r>
              <a:t>Ein bis zwei Meetings pro Woche – abhängig von Fortschritt und Klärungsbedarf.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93024" y="3154680"/>
            <a:ext cx="32461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421624" y="3429000"/>
            <a:ext cx="73152" cy="475488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31936" y="3401568"/>
            <a:ext cx="2624327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0B1628"/>
                </a:solidFill>
                <a:latin typeface="Aptos"/>
              </a:defRPr>
            </a:pPr>
            <a:r>
              <a:t>Zusammenarbeit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21624" y="3977640"/>
            <a:ext cx="2788920" cy="91439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607086"/>
                </a:solidFill>
                <a:latin typeface="Aptos"/>
              </a:defRPr>
            </a:pPr>
            <a:r>
              <a:t>Pull-Request-Reviews und Pair Programming bei komplexen Integrationsfragen.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5669280"/>
            <a:ext cx="105613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607086"/>
                </a:solidFill>
                <a:latin typeface="Aptos"/>
              </a:defRPr>
            </a:pPr>
            <a:r>
              <a:t>Joelle: Leitung + Full Stack/Deployment  ·  Danylo: Frontend/Backend  ·  Pharel: Backend/Tests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537960"/>
            <a:ext cx="5029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607086"/>
                </a:solidFill>
                <a:latin typeface="Aptos"/>
              </a:defRPr>
            </a:pPr>
            <a:r>
              <a:t>PWI · Gruppe 2 · Aufgabendatenbank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607086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5720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4F7DF3"/>
                </a:solidFill>
                <a:latin typeface="Aptos"/>
              </a:defRPr>
            </a:pPr>
            <a:r>
              <a:t>10 · TRANSPARENZ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0B1628"/>
                </a:solidFill>
                <a:latin typeface="Aptos"/>
              </a:defRPr>
            </a:pPr>
            <a:r>
              <a:t>Grenzen und bewusste Entscheidungen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6576"/>
          </a:xfrm>
          <a:prstGeom prst="rect">
            <a:avLst/>
          </a:prstGeom>
          <a:solidFill>
            <a:srgbClr val="35C58A"/>
          </a:solidFill>
          <a:ln w="12700">
            <a:solidFill>
              <a:srgbClr val="35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38328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874519"/>
            <a:ext cx="73152" cy="475488"/>
          </a:xfrm>
          <a:prstGeom prst="rect">
            <a:avLst/>
          </a:prstGeom>
          <a:solidFill>
            <a:srgbClr val="35C58A"/>
          </a:solidFill>
          <a:ln w="12700">
            <a:solidFill>
              <a:srgbClr val="35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" y="1847088"/>
            <a:ext cx="276148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0B1628"/>
                </a:solidFill>
                <a:latin typeface="Aptos"/>
              </a:defRPr>
            </a:pPr>
            <a:r>
              <a:t>Im Kern umgesetzt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2926080" cy="2926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607086"/>
                </a:solidFill>
                <a:latin typeface="Aptos"/>
              </a:defRPr>
            </a:pPr>
            <a:r>
              <a:t>Items und Contents</a:t>
            </a:r>
            <a:br/>
            <a:r>
              <a:t>Collections und Varianten</a:t>
            </a:r>
            <a:br/>
            <a:r>
              <a:t>Tags und Suche</a:t>
            </a:r>
            <a:br/>
            <a:r>
              <a:t>Validator-Zuordnung</a:t>
            </a:r>
            <a:br/>
            <a:r>
              <a:t>Templates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600200"/>
            <a:ext cx="338328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36008" y="1874519"/>
            <a:ext cx="73152" cy="475488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847088"/>
            <a:ext cx="2761487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0B1628"/>
                </a:solidFill>
                <a:latin typeface="Aptos"/>
              </a:defRPr>
            </a:pPr>
            <a:r>
              <a:t>Teilweise vorbereitet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2423160"/>
            <a:ext cx="2926080" cy="2926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607086"/>
                </a:solidFill>
                <a:latin typeface="Aptos"/>
              </a:defRPr>
            </a:pPr>
            <a:r>
              <a:t>Modifier-Verwaltung</a:t>
            </a:r>
            <a:br/>
            <a:r>
              <a:t>Content-Tags in der UI</a:t>
            </a:r>
            <a:br/>
            <a:r>
              <a:t>Typ-Kompatibilitätsfilter</a:t>
            </a:r>
            <a:br/>
            <a:r>
              <a:t>Content-Wiederverwendung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9016" y="1600200"/>
            <a:ext cx="338328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57616" y="1874519"/>
            <a:ext cx="73152" cy="475488"/>
          </a:xfrm>
          <a:prstGeom prst="rect">
            <a:avLst/>
          </a:prstGeom>
          <a:solidFill>
            <a:srgbClr val="4F7DF3"/>
          </a:solidFill>
          <a:ln w="12700">
            <a:solidFill>
              <a:srgbClr val="4F7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67928" y="1847088"/>
            <a:ext cx="2761487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0B1628"/>
                </a:solidFill>
                <a:latin typeface="Aptos"/>
              </a:defRPr>
            </a:pPr>
            <a:r>
              <a:t>Externe Abhängigkeiten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2423160"/>
            <a:ext cx="2926080" cy="2926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607086"/>
                </a:solidFill>
                <a:latin typeface="Aptos"/>
              </a:defRPr>
            </a:pPr>
            <a:r>
              <a:t>zentrale Authentifizierung</a:t>
            </a:r>
            <a:br/>
            <a:r>
              <a:t>Validator-Ausführung</a:t>
            </a:r>
            <a:br/>
            <a:r>
              <a:t>ArgoCD-Zielplattform</a:t>
            </a:r>
            <a:br/>
            <a:r>
              <a:t>produktives Cluster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806440"/>
            <a:ext cx="102412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0B1628"/>
                </a:solidFill>
                <a:latin typeface="Aptos"/>
              </a:defRPr>
            </a:pPr>
            <a:r>
              <a:t>Container und Kubernetes-Konfiguration sind vorhanden; die Zielinfrastruktur wurde nicht bereitgestellt.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37960"/>
            <a:ext cx="5029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607086"/>
                </a:solidFill>
                <a:latin typeface="Aptos"/>
              </a:defRPr>
            </a:pPr>
            <a:r>
              <a:t>PWI · Gruppe 2 · Aufgabendatenbank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607086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5720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35C58A"/>
                </a:solidFill>
                <a:latin typeface="Aptos"/>
              </a:defRPr>
            </a:pPr>
            <a:r>
              <a:t>11 · FAZIT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Ergebnis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81328"/>
            <a:ext cx="1069848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Ein abstraktes Schema wurde zu einem bedienbaren Autorenwerkzeug.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468880"/>
            <a:ext cx="3246120" cy="2240280"/>
          </a:xfrm>
          <a:prstGeom prst="roundRect">
            <a:avLst/>
          </a:prstGeom>
          <a:solidFill>
            <a:srgbClr val="142238"/>
          </a:solidFill>
          <a:ln w="12700">
            <a:solidFill>
              <a:srgbClr val="4F7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88920"/>
            <a:ext cx="27889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4F7DF3"/>
                </a:solidFill>
                <a:latin typeface="Aptos"/>
              </a:defRPr>
            </a:pPr>
            <a:r>
              <a:t>DURCHGÄNGIG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383280"/>
            <a:ext cx="260604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ptos"/>
              </a:defRPr>
            </a:pPr>
            <a:r>
              <a:t>Datenbank, Backend und Frontend integriert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468880"/>
            <a:ext cx="3246120" cy="2240280"/>
          </a:xfrm>
          <a:prstGeom prst="roundRect">
            <a:avLst/>
          </a:prstGeom>
          <a:solidFill>
            <a:srgbClr val="142238"/>
          </a:solidFill>
          <a:ln w="12700">
            <a:solidFill>
              <a:srgbClr val="35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2788920"/>
            <a:ext cx="27889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35C58A"/>
                </a:solidFill>
                <a:latin typeface="Aptos"/>
              </a:defRPr>
            </a:pPr>
            <a:r>
              <a:t>KONSISTENT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3383280"/>
            <a:ext cx="260604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ptos"/>
              </a:defRPr>
            </a:pPr>
            <a:r>
              <a:t>Collections, Positionen und Varianten sauber getrennt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2468880"/>
            <a:ext cx="3246120" cy="2240280"/>
          </a:xfrm>
          <a:prstGeom prst="roundRect">
            <a:avLst/>
          </a:prstGeom>
          <a:solidFill>
            <a:srgbClr val="142238"/>
          </a:solidFill>
          <a:ln w="12700"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2788920"/>
            <a:ext cx="27889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F5A524"/>
                </a:solidFill>
                <a:latin typeface="Aptos"/>
              </a:defRPr>
            </a:pPr>
            <a:r>
              <a:t>BELASTBAR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383280"/>
            <a:ext cx="260604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ptos"/>
              </a:defRPr>
            </a:pPr>
            <a:r>
              <a:t>getestet, containerisiert und erweiterbar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5349240"/>
            <a:ext cx="100584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500" b="0">
                <a:solidFill>
                  <a:srgbClr val="C7D1E0"/>
                </a:solidFill>
                <a:latin typeface="Aptos"/>
              </a:defRPr>
            </a:pPr>
            <a:r>
              <a:t>Die Stärke liegt nicht in einzelnen CRUD-Masken, sondern in den verständlichen Beziehungen.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537960"/>
            <a:ext cx="5029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9EABC0"/>
                </a:solidFill>
                <a:latin typeface="Aptos"/>
              </a:defRPr>
            </a:pPr>
            <a:r>
              <a:t>PWI · Gruppe 2 · Aufgabendatenbank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9EABC0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5720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35C58A"/>
                </a:solidFill>
                <a:latin typeface="Aptos"/>
              </a:defRPr>
            </a:pPr>
            <a:r>
              <a:t>12 · ANWENDUNG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Live-Demo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25880" y="1417320"/>
            <a:ext cx="438912" cy="438912"/>
          </a:xfrm>
          <a:prstGeom prst="roundRect">
            <a:avLst/>
          </a:prstGeom>
          <a:solidFill>
            <a:srgbClr val="35C58A"/>
          </a:solidFill>
          <a:ln w="12700">
            <a:solidFill>
              <a:srgbClr val="35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527048"/>
            <a:ext cx="438912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490472"/>
            <a:ext cx="81381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Aufgabe mit Autor, Lizenz und Typ erstellen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25880" y="2130552"/>
            <a:ext cx="438912" cy="438912"/>
          </a:xfrm>
          <a:prstGeom prst="roundRect">
            <a:avLst/>
          </a:prstGeom>
          <a:solidFill>
            <a:srgbClr val="35C58A"/>
          </a:solidFill>
          <a:ln w="12700">
            <a:solidFill>
              <a:srgbClr val="35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240280"/>
            <a:ext cx="438912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2203704"/>
            <a:ext cx="81381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Content hinzufügen und Template-Vorschau zeigen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25880" y="2843784"/>
            <a:ext cx="438912" cy="438912"/>
          </a:xfrm>
          <a:prstGeom prst="roundRect">
            <a:avLst/>
          </a:prstGeom>
          <a:solidFill>
            <a:srgbClr val="35C58A"/>
          </a:solidFill>
          <a:ln w="12700">
            <a:solidFill>
              <a:srgbClr val="35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2953512"/>
            <a:ext cx="438912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916936"/>
            <a:ext cx="81381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Tag zuweisen und über Filter wiederfinden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25880" y="3557015"/>
            <a:ext cx="438912" cy="438912"/>
          </a:xfrm>
          <a:prstGeom prst="roundRect">
            <a:avLst/>
          </a:prstGeom>
          <a:solidFill>
            <a:srgbClr val="35C58A"/>
          </a:solidFill>
          <a:ln w="12700">
            <a:solidFill>
              <a:srgbClr val="35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3666744"/>
            <a:ext cx="438912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3630168"/>
            <a:ext cx="81381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Geordnete Collection erstellen und verschieben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25880" y="4270248"/>
            <a:ext cx="438912" cy="438912"/>
          </a:xfrm>
          <a:prstGeom prst="roundRect">
            <a:avLst/>
          </a:prstGeom>
          <a:solidFill>
            <a:srgbClr val="35C58A"/>
          </a:solidFill>
          <a:ln w="12700">
            <a:solidFill>
              <a:srgbClr val="35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4379976"/>
            <a:ext cx="438912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4343400"/>
            <a:ext cx="81381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Variante und Validator zeigen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25880" y="4983480"/>
            <a:ext cx="438912" cy="438912"/>
          </a:xfrm>
          <a:prstGeom prst="roundRect">
            <a:avLst/>
          </a:prstGeom>
          <a:solidFill>
            <a:srgbClr val="35C58A"/>
          </a:solidFill>
          <a:ln w="12700">
            <a:solidFill>
              <a:srgbClr val="35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5093208"/>
            <a:ext cx="438912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5056632"/>
            <a:ext cx="81381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Neu laden: Persistenz nachweisen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5897880"/>
            <a:ext cx="81381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A8B5C8"/>
                </a:solidFill>
                <a:latin typeface="Aptos"/>
              </a:defRPr>
            </a:pPr>
            <a:r>
              <a:t>Vorbereitete Daten · keine Infrastrukturänderungen während der Demo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537960"/>
            <a:ext cx="5029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9EABC0"/>
                </a:solidFill>
                <a:latin typeface="Aptos"/>
              </a:defRPr>
            </a:pPr>
            <a:r>
              <a:t>PWI · Gruppe 2 · Aufgabendatenbank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9EABC0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Aufgabendatenbank – Projektpräsentation</dc:title>
  <dc:subject>Praktikum Wirtschaftsinformatik, SS 2026</dc:subject>
  <dc:creator>Joelle Giovanna Kamwa Mokam, Pharel, Danylo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