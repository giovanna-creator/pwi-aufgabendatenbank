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76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ABSCHLUSSPRÄSENTATION · 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Aufgabendatenbank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B7C0D0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B7C0D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740664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2500" b="0">
                <a:solidFill>
                  <a:srgbClr val="FFFFFF"/>
                </a:solidFill>
                <a:latin typeface="Calibri"/>
              </a:defRPr>
            </a:pPr>
            <a:r>
              <a:t>Vom vorgegebenen Datenschema zum nutzbaren Autorenwerkzeug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60320"/>
            <a:ext cx="2176272" cy="566928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43200"/>
            <a:ext cx="2176272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00A98F"/>
                </a:solidFill>
                <a:latin typeface="Calibri"/>
              </a:defRPr>
            </a:pPr>
            <a:r>
              <a:t>DATENMODELL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560320"/>
            <a:ext cx="2176272" cy="566928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2743200"/>
            <a:ext cx="2176272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00A98F"/>
                </a:solidFill>
                <a:latin typeface="Calibri"/>
              </a:defRPr>
            </a:pPr>
            <a:r>
              <a:t>WEBANWENDUNG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2432" y="2560320"/>
            <a:ext cx="2176272" cy="566928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2" y="2743200"/>
            <a:ext cx="2176272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00A98F"/>
                </a:solidFill>
                <a:latin typeface="Calibri"/>
              </a:defRPr>
            </a:pPr>
            <a:r>
              <a:t>AUTORENWORKFLOW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074920"/>
            <a:ext cx="768096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Joelle Giovanna Kamwa Mokam  ·  Danylo  ·  Pharel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504688"/>
            <a:ext cx="768096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300" b="0">
                <a:solidFill>
                  <a:srgbClr val="C4CCDA"/>
                </a:solidFill>
                <a:latin typeface="Calibri"/>
              </a:defRPr>
            </a:pPr>
            <a:r>
              <a:t>Betreuung: Prof. Dr. Markus Siepermann · Johannes Kunz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AUSGANGSLAGE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Projektauftrag und Ziel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Joelle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81328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170078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691640"/>
            <a:ext cx="277063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Ausgangspunkt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157984"/>
            <a:ext cx="2898648" cy="28437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Ein abgestimmtes relationales Schema – aber noch keine praktisch nutzbare Anwendung.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1481328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26864" y="170078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1691640"/>
            <a:ext cx="277063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Unsere Aufgabe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157984"/>
            <a:ext cx="2898648" cy="28437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Entitäten und Beziehungen fachlich verstehen und in klare Interaktionen übersetzen.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1481328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94192" y="170078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1691640"/>
            <a:ext cx="277063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Ziel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57984"/>
            <a:ext cx="2898648" cy="28437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Ein Autorenwerkzeug für Lehrende: Aufgaben erstellen, strukturieren, kombinieren und wiederfinden.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21808"/>
            <a:ext cx="3200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500" b="1">
                <a:solidFill>
                  <a:srgbClr val="667085"/>
                </a:solidFill>
                <a:latin typeface="Calibri"/>
              </a:defRPr>
            </a:pPr>
            <a:r>
              <a:t>Kein Lern- oder Korrektursystem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5321808"/>
            <a:ext cx="36576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500" b="1">
                <a:solidFill>
                  <a:srgbClr val="1E2761"/>
                </a:solidFill>
                <a:latin typeface="Calibri"/>
              </a:defRPr>
            </a:pPr>
            <a:r>
              <a:t>Fokus: Verwaltung und Modellierung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MODELLGRUNDLAGE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Vorgegebenes Datenbankschema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Joelle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389888"/>
            <a:ext cx="7360920" cy="45262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21458"/>
            <a:ext cx="73609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98290"/>
            <a:ext cx="68122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DATENBANKSCHEMA EINFÜGEN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467758"/>
            <a:ext cx="672084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breite, gut lesbare PNG-Version verwenden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89888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22208" y="160934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1600200"/>
            <a:ext cx="263347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Kern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066543"/>
            <a:ext cx="2761488" cy="4663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Item und ItemContent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816352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22208" y="3035808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3026664"/>
            <a:ext cx="263347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Organisation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3493008"/>
            <a:ext cx="2761488" cy="4663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Collections und Positionen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242816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22208" y="4462272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14232" y="4453128"/>
            <a:ext cx="263347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Metadaten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4919472"/>
            <a:ext cx="2761488" cy="4663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Tags, Typen, Lizenzen, Regeln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SYSTEMDESIGN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Architektur und Technologieentscheidungen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Joelle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371600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563624"/>
            <a:ext cx="129844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00A98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536192"/>
            <a:ext cx="352044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Vue 3 · TypeScript · Vuetify · Pinia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554480"/>
            <a:ext cx="1874519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Interaktion und Zustand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414015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606039"/>
            <a:ext cx="129844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00A98F"/>
                </a:solidFill>
                <a:latin typeface="Calibri"/>
              </a:defRPr>
            </a:pPr>
            <a:r>
              <a:t>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578608"/>
            <a:ext cx="352044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Axios · typisierte DTOs · ApiAdapter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596896"/>
            <a:ext cx="1874519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stabiler Vertrag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456432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648456"/>
            <a:ext cx="129844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00A98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21024"/>
            <a:ext cx="352044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Java 21 · Spring Boot · JPA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639312"/>
            <a:ext cx="1874519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Regeln und Transaktionen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498848"/>
            <a:ext cx="7452360" cy="713232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690872"/>
            <a:ext cx="129844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00A98F"/>
                </a:solidFill>
                <a:latin typeface="Calibri"/>
              </a:defRPr>
            </a:pPr>
            <a:r>
              <a:t>DATENBANK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663440"/>
            <a:ext cx="352044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PostgreSQL 16 · UUID · JSONB · BYTEA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681728"/>
            <a:ext cx="1874519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300" b="0">
                <a:solidFill>
                  <a:srgbClr val="C9D0DE"/>
                </a:solidFill>
                <a:latin typeface="Calibri"/>
              </a:defRPr>
            </a:pPr>
            <a:r>
              <a:t>Integrität und Persistenz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58784" y="137160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59952" y="159105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51976" y="1581912"/>
            <a:ext cx="226771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Warum passend?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048256"/>
            <a:ext cx="2395728" cy="5577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Vorwissen im Team und Anschluss an das bereitgestellte Vue-Frontend.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58784" y="292608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9952" y="314553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51976" y="3136392"/>
            <a:ext cx="226771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Warum PostgreSQL?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602736"/>
            <a:ext cx="2395728" cy="5577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Das Schema benötigt JSONB, Binärdaten und UUIDs nativ.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58784" y="4480560"/>
            <a:ext cx="2834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59952" y="470001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51976" y="4690872"/>
            <a:ext cx="226771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Betrieb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157216"/>
            <a:ext cx="2395728" cy="283463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Docker Compose und GHCR-Images.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ENTITÄTSGRUPPE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Item, Content und Referenzdaten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Danylo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371600"/>
            <a:ext cx="31821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159105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581912"/>
            <a:ext cx="2615184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048256"/>
            <a:ext cx="2743200" cy="4663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Metadaten: Autor, Lizenz, Typ und optionales Template.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61488"/>
            <a:ext cx="31821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" y="298094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971800"/>
            <a:ext cx="2615184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ItemContent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438144"/>
            <a:ext cx="2743200" cy="4663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Text/JSON oder Datei; Verbindung zum Item über purpose.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51376"/>
            <a:ext cx="31821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" y="4370832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61688"/>
            <a:ext cx="2615184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Referenzen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828032"/>
            <a:ext cx="2743200" cy="4663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Author · License · ItemType · ContentType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1371600"/>
            <a:ext cx="7360920" cy="3977639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2366010"/>
            <a:ext cx="73609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400196"/>
            <a:ext cx="68122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SCREENSHOT: AUFGABE + CONTENT-EDITOR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076395"/>
            <a:ext cx="672084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Metadaten und zwei unterschiedliche Inhaltsbausteine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87568"/>
            <a:ext cx="10881360" cy="56692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797296"/>
            <a:ext cx="1353312" cy="32004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79592"/>
            <a:ext cx="1353312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MINI-DEMO · 60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9152" y="5797296"/>
            <a:ext cx="23317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Aufgabe erstellen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806440"/>
            <a:ext cx="6629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Metadaten wählen  →  Textinhalt ergänzen  →  Bild/PDF zeigen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ENTITÄTSGRUPPE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Collections und Varianten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Danylo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371600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159105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581912"/>
            <a:ext cx="283464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Ungeordnete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048256"/>
            <a:ext cx="2962656" cy="5852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Thematische Gruppe; position bleibt NULL.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89504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" y="3108960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99816"/>
            <a:ext cx="283464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Geordnete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566160"/>
            <a:ext cx="2962656" cy="5852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Sequenz; Backend verwaltet 1, 2, 3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07408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" y="462686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17720"/>
            <a:ext cx="283464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Variante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084064"/>
            <a:ext cx="2962656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root_item_id verbindet eine Variante mit der Ausgangsaufgabe.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1371600"/>
            <a:ext cx="7114032" cy="4114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2400300"/>
            <a:ext cx="7114032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70148"/>
            <a:ext cx="656539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SCREENSHOT: TREEVIEW + VARIANTENPANEL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169664"/>
            <a:ext cx="6473952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Collection-Knoten, Positionen und Variantenbereich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87568"/>
            <a:ext cx="10881360" cy="56692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797296"/>
            <a:ext cx="1353312" cy="32004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79592"/>
            <a:ext cx="1353312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MINI-DEMO · 60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9152" y="5797296"/>
            <a:ext cx="23317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Struktur materialisieren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806440"/>
            <a:ext cx="6629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Collection anlegen  →  ordnen per Drag-and-Drop  →  Variante zeigen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ENTITÄTSGRUPPE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Hierarchische Tags und Suche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Danylo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371600"/>
            <a:ext cx="6858000" cy="4114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00300"/>
            <a:ext cx="68580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70148"/>
            <a:ext cx="63093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SCREENSHOT: TAG-BAUM UND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169664"/>
            <a:ext cx="621792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Tag-Pfad, Chips und kombinierte Suchleiste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1371600"/>
            <a:ext cx="3675887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9105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581912"/>
            <a:ext cx="3108959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Datenbank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048256"/>
            <a:ext cx="3236975" cy="3749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Self-Reference über parent_tag_id.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2697480"/>
            <a:ext cx="3675887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91693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907792"/>
            <a:ext cx="3108959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374136"/>
            <a:ext cx="3236975" cy="3749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Flache Tag-Liste und Zuordnungsendpunkte.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4023360"/>
            <a:ext cx="3675887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24281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4233672"/>
            <a:ext cx="3108959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4700016"/>
            <a:ext cx="3236975" cy="6949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Rekursiver Baum; Suche nach Text, Autor, Typ und Tag.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87568"/>
            <a:ext cx="10881360" cy="56692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797296"/>
            <a:ext cx="1353312" cy="32004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79592"/>
            <a:ext cx="1353312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MINI-DEMO · 60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9152" y="5797296"/>
            <a:ext cx="23317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Wiederfinden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806440"/>
            <a:ext cx="6629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Tag-Pfad anlegen  →  zuweisen  →  Filter kombinieren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ENTITÄTSGRUPPE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Templates, Validatoren und Modifier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37160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159105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581912"/>
            <a:ext cx="277063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Representation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048256"/>
            <a:ext cx="2898648" cy="10607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XML legt die Reihenfolge der purpose-Blöcke in der Vorschau fest.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01568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" y="362102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11880"/>
            <a:ext cx="277063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Validator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078224"/>
            <a:ext cx="2898648" cy="10607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Wiederverwendbare Regel; Speicherung und Item-Zuordnung umgesetzt.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1371600"/>
            <a:ext cx="7205472" cy="3858768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2336291"/>
            <a:ext cx="7205472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339571"/>
            <a:ext cx="6656832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SCREENSHOT: TEMPLATE + VALIDATOR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995562"/>
            <a:ext cx="6565392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XML-Editor, Vorschau und zugeordnete Regel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4617720"/>
            <a:ext cx="2926080" cy="438912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EBC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754880"/>
            <a:ext cx="29260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875D12"/>
                </a:solidFill>
                <a:latin typeface="Calibri"/>
              </a:defRPr>
            </a:pPr>
            <a:r>
              <a:t>Modifier: strukturell vorbereitet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87568"/>
            <a:ext cx="10881360" cy="56692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797296"/>
            <a:ext cx="1353312" cy="32004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79592"/>
            <a:ext cx="1353312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MINI-DEMO · 60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9152" y="5797296"/>
            <a:ext cx="23317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Darstellung und Regeln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806440"/>
            <a:ext cx="6629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Template umsortieren  →  Vorschau öffnen  →  Validator zuordnen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BACKEND UND DATENBANK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Konsistenz über alle Schichten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72768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19" y="1325880"/>
            <a:ext cx="594360" cy="59436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1508760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48840"/>
            <a:ext cx="16002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Vue-Dialog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78608"/>
            <a:ext cx="16002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Eingaben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2072" y="1572768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02152" y="1325880"/>
            <a:ext cx="594360" cy="59436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152" y="1508760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148840"/>
            <a:ext cx="16002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REST-DTO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578608"/>
            <a:ext cx="16002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UUIDs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75503" y="1572768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15583" y="1325880"/>
            <a:ext cx="594360" cy="59436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3" y="1508760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2148840"/>
            <a:ext cx="16002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2578608"/>
            <a:ext cx="16002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Regeln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88936" y="1572768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9015" y="1325880"/>
            <a:ext cx="594360" cy="59436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5" y="1508760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2148840"/>
            <a:ext cx="16002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2578608"/>
            <a:ext cx="16002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JPA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02367" y="1572768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42447" y="1325880"/>
            <a:ext cx="594360" cy="59436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7" y="1508760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2148840"/>
            <a:ext cx="16002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578608"/>
            <a:ext cx="16002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0">
                <a:solidFill>
                  <a:srgbClr val="667085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3703320"/>
            <a:ext cx="10058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3977639"/>
            <a:ext cx="30632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Beispiel: geordnete Collection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968496"/>
            <a:ext cx="635508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0">
                <a:solidFill>
                  <a:srgbClr val="202533"/>
                </a:solidFill>
                <a:latin typeface="Calibri"/>
              </a:defRPr>
            </a:pPr>
            <a:r>
              <a:t>Backend berechnet Positionen und normalisiert Geschwister transaktional.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462272"/>
            <a:ext cx="63550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0">
                <a:solidFill>
                  <a:srgbClr val="667085"/>
                </a:solidFill>
                <a:latin typeface="Calibri"/>
              </a:defRPr>
            </a:pPr>
            <a:r>
              <a:t>Bei einem Teilfehler lädt das Frontend den betroffenen Bereich erneut.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687568"/>
            <a:ext cx="10881360" cy="56692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" y="5797296"/>
            <a:ext cx="1353312" cy="32004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79592"/>
            <a:ext cx="1353312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MINI-DEMO · 30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9152" y="5797296"/>
            <a:ext cx="23317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Persistenz prüfen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806440"/>
            <a:ext cx="6629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Änderung speichern  →  Seite neu laden  →  gleichen Stand zeigen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Qualitätssicherung und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2148840" cy="4389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67712"/>
            <a:ext cx="214884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Calibri"/>
              </a:defRPr>
            </a:pPr>
            <a:r>
              <a:t>Frontend-Tests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72968" y="1417320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664208"/>
            <a:ext cx="2148840" cy="4389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267712"/>
            <a:ext cx="214884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Calibri"/>
              </a:defRPr>
            </a:pPr>
            <a:r>
              <a:t>Backend-Tests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0136" y="1417320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136" y="1664208"/>
            <a:ext cx="2148840" cy="4389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2267712"/>
            <a:ext cx="214884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Calibri"/>
              </a:defRPr>
            </a:pPr>
            <a:r>
              <a:t>Typecheck &amp;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417320"/>
            <a:ext cx="3310128" cy="2697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091690"/>
            <a:ext cx="3310128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793034"/>
            <a:ext cx="276148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OPTIONAL: TESTLAUF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3251606"/>
            <a:ext cx="2670048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grünes Terminal oder GitHub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063240"/>
            <a:ext cx="3246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" y="328269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273552"/>
            <a:ext cx="2679191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739896"/>
            <a:ext cx="2807208" cy="7863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Store, Services, Controller und Fehlerpfade.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3063240"/>
            <a:ext cx="3246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59" y="328269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3" y="3273552"/>
            <a:ext cx="2679191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Pull Requests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3739896"/>
            <a:ext cx="2807208" cy="7863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Review vor Merge; Fixes in kleinen Branches.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64608"/>
            <a:ext cx="68397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" y="5084064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074920"/>
            <a:ext cx="6272784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41264"/>
            <a:ext cx="6400800" cy="-1097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GitHub Actions baut Backend- und Frontend-Images mit Commit-SHA.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87568"/>
            <a:ext cx="10881360" cy="56692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" y="5797296"/>
            <a:ext cx="1353312" cy="320040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79592"/>
            <a:ext cx="1353312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MINI-DEMO · 30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5797296"/>
            <a:ext cx="23317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Robustheit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806440"/>
            <a:ext cx="6629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geordnet umschalten  →  neu laden  →  Positionen vergleichen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VORGEHENSMODELL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Projektorganisation und Zusammenarbeit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Joelle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353312"/>
            <a:ext cx="5212080" cy="35661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44852"/>
            <a:ext cx="52120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72053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SCREENSHOT: GITHUB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3778300"/>
            <a:ext cx="457200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In progress · In review · Closed/Done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353312"/>
            <a:ext cx="5321808" cy="35661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AE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2244852"/>
            <a:ext cx="5321808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3000" b="1">
                <a:solidFill>
                  <a:srgbClr val="00A98F"/>
                </a:solidFill>
                <a:latin typeface="Calibri"/>
              </a:defRPr>
            </a:pPr>
            <a:r>
              <a:t>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172053"/>
            <a:ext cx="477316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1">
                <a:solidFill>
                  <a:srgbClr val="1E2761"/>
                </a:solidFill>
                <a:latin typeface="Calibri"/>
              </a:defRPr>
            </a:pPr>
            <a:r>
              <a:t>SCREENSHOT: DISCORD-MEETING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778300"/>
            <a:ext cx="4681728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Teamgespräch oder Bildschirmfreigabe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66360"/>
            <a:ext cx="3337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340096"/>
            <a:ext cx="713232" cy="2103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1">
                <a:solidFill>
                  <a:srgbClr val="00A98F"/>
                </a:solidFill>
                <a:latin typeface="Calibri"/>
              </a:defRPr>
            </a:pPr>
            <a:r>
              <a:t>1–2×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5358384"/>
            <a:ext cx="2212848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Meetings pro Woche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5166360"/>
            <a:ext cx="3337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5340096"/>
            <a:ext cx="713232" cy="2103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1">
                <a:solidFill>
                  <a:srgbClr val="00A98F"/>
                </a:solidFill>
                <a:latin typeface="Calibri"/>
              </a:defRPr>
            </a:pPr>
            <a:r>
              <a:t>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2392" y="5358384"/>
            <a:ext cx="2212848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Review vor Merge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166360"/>
            <a:ext cx="3337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5340096"/>
            <a:ext cx="713232" cy="2103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700" b="1">
                <a:solidFill>
                  <a:srgbClr val="00A98F"/>
                </a:solidFill>
                <a:latin typeface="Calibri"/>
              </a:defRPr>
            </a:pPr>
            <a:r>
              <a:t>PAIR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5358384"/>
            <a:ext cx="2212848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gemeinsame Sessions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TRANSPARENZ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Grenzen und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960120" cy="41148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Joelle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66708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37160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1591056"/>
            <a:ext cx="64008" cy="4572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581912"/>
            <a:ext cx="281635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Bewusst offen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048256"/>
            <a:ext cx="2944368" cy="339242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• vollständige Modifier-UI</a:t>
            </a:r>
            <a:br/>
            <a:br/>
            <a:r>
              <a:t>• Content-Tag-Workflow</a:t>
            </a:r>
            <a:br/>
            <a:br/>
            <a:r>
              <a:t>• Typ-Kompatibilitätsfilter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37160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08576" y="1591056"/>
            <a:ext cx="64008" cy="4572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581912"/>
            <a:ext cx="281635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Externe Abhängigkeiten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048256"/>
            <a:ext cx="2944368" cy="339242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• zentrale Authentifizierung</a:t>
            </a:r>
            <a:br/>
            <a:br/>
            <a:r>
              <a:t>• Validator-Ausführung</a:t>
            </a:r>
            <a:br/>
            <a:br/>
            <a:r>
              <a:t>• ArgoCD-Zielplattform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37160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7616" y="1591056"/>
            <a:ext cx="64008" cy="457200"/>
          </a:xfrm>
          <a:prstGeom prst="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581912"/>
            <a:ext cx="2816352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900" b="1">
                <a:solidFill>
                  <a:srgbClr val="1E2761"/>
                </a:solidFill>
                <a:latin typeface="Calibri"/>
              </a:defRPr>
            </a:pPr>
            <a:r>
              <a:t>Nächste Schritte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048256"/>
            <a:ext cx="2944368" cy="3392424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600" b="0">
                <a:solidFill>
                  <a:srgbClr val="667085"/>
                </a:solidFill>
                <a:latin typeface="Calibri"/>
              </a:defRPr>
            </a:pPr>
            <a:r>
              <a:t>• PostgreSQL-Integrationstests</a:t>
            </a:r>
            <a:br/>
            <a:br/>
            <a:r>
              <a:t>• Rollen und Rechte</a:t>
            </a:r>
            <a:br/>
            <a:br/>
            <a:r>
              <a:t>• produktives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806440"/>
            <a:ext cx="101955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Container und Values-Konfiguration sind vorhanden; die Zielinfrastruktur wurde nicht bereitgestellt.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45720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00A98F"/>
                </a:solidFill>
                <a:latin typeface="Calibri"/>
              </a:defRPr>
            </a:pPr>
            <a:r>
              <a:t>ERGEBNIS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8778240" cy="4754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Fazit und Fragen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55480" y="256032"/>
            <a:ext cx="2057400" cy="502920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74352" y="347472"/>
            <a:ext cx="310896" cy="310896"/>
          </a:xfrm>
          <a:prstGeom prst="roundRect">
            <a:avLst/>
          </a:prstGeom>
          <a:solidFill>
            <a:srgbClr val="00A98F"/>
          </a:solidFill>
          <a:ln w="12700">
            <a:solidFill>
              <a:srgbClr val="00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74352" y="411480"/>
            <a:ext cx="310896" cy="128016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6688" y="329184"/>
            <a:ext cx="1371600" cy="1188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800" b="0">
                <a:solidFill>
                  <a:srgbClr val="BEC8DA"/>
                </a:solidFill>
                <a:latin typeface="Calibri"/>
              </a:defRPr>
            </a:pPr>
            <a:r>
              <a:t>PRÄSENTIERT VON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688" y="47548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21945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l">
              <a:defRPr sz="1000" b="0">
                <a:solidFill>
                  <a:srgbClr val="B7C0D0"/>
                </a:solidFill>
                <a:latin typeface="Calibri"/>
              </a:defRPr>
            </a:pPr>
            <a:r>
              <a:t>PWI · Gruppe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r">
              <a:defRPr sz="1000" b="1">
                <a:solidFill>
                  <a:srgbClr val="B7C0D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08760"/>
            <a:ext cx="1014984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Aus einem abstrakten Schema wurde ein getestetes, bedienbares Autorenwerkzeug.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3246120" cy="1828800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99232"/>
            <a:ext cx="32461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500" b="1">
                <a:solidFill>
                  <a:srgbClr val="00A98F"/>
                </a:solidFill>
                <a:latin typeface="Calibri"/>
              </a:defRPr>
            </a:pPr>
            <a:r>
              <a:t>MODELLIERT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26974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Schemaelemente fachlich übersetzt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697480"/>
            <a:ext cx="3246120" cy="1828800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999232"/>
            <a:ext cx="32461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500" b="1">
                <a:solidFill>
                  <a:srgbClr val="00A98F"/>
                </a:solidFill>
                <a:latin typeface="Calibri"/>
              </a:defRPr>
            </a:pPr>
            <a:r>
              <a:t>INTEGRIERT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60"/>
            <a:ext cx="26974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Frontend · Backend · 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697480"/>
            <a:ext cx="3246120" cy="1828800"/>
          </a:xfrm>
          <a:prstGeom prst="roundRect">
            <a:avLst/>
          </a:prstGeom>
          <a:solidFill>
            <a:srgbClr val="2A3570"/>
          </a:solidFill>
          <a:ln w="12700">
            <a:solidFill>
              <a:srgbClr val="465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999232"/>
            <a:ext cx="32461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500" b="1">
                <a:solidFill>
                  <a:srgbClr val="00A98F"/>
                </a:solidFill>
                <a:latin typeface="Calibri"/>
              </a:defRPr>
            </a:pPr>
            <a:r>
              <a:t>ERWEITERBAR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566160"/>
            <a:ext cx="26974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klare Grenzen und nächste Schritte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30368"/>
            <a:ext cx="103327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norm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Calibri"/>
              </a:defRPr>
            </a:pPr>
            <a:r>
              <a:t>Vielen Dank.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Breitbild</PresentationFormat>
  <Paragraphs>165</Paragraphs>
  <Slides>10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Aufgabendatenbank – Abschlusspräsentation</dc:title>
  <dc:subject>PptxGenJS Presentation</dc:subject>
  <dc:creator>Joelle Giovanna Kamwa Mokam, Danylo, Pharel</dc:creator>
  <cp:lastModifiedBy>Joelle Giovanna</cp:lastModifiedBy>
  <cp:revision>5</cp:revision>
  <dcterms:created xsi:type="dcterms:W3CDTF">2026-06-03T05:59:56Z</dcterms:created>
  <dcterms:modified xsi:type="dcterms:W3CDTF">2026-07-14T22:08:24Z</dcterms:modified>
</cp:coreProperties>
</file>